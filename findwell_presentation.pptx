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Introduce the leader first, then the four team members. Mention the two school-based contributors and the JDCOEM members as a mixed team covering research, interface, backend, and implementation work.</a:t>
            </a:r>
          </a:p>
          <a:p/>
          <a:p>
            <a:r>
              <a:t>[Sources]</a:t>
            </a:r>
          </a:p>
          <a:p>
            <a:r>
              <a:t>- Team names, institutions, and LinkedIn profiles transcribed from the user-supplied team-details image.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Show the top lane first: plan, retrieve, quarantine, execute, verify, export. Then explain that improvement is a separate candidate lane. The candidate is inactive until held-out gain, zero safety regression, and named human approval.</a:t>
            </a:r>
          </a:p>
          <a:p/>
          <a:p>
            <a:r>
              <a:t>[Sources]</a:t>
            </a:r>
          </a:p>
          <a:p>
            <a:r>
              <a:t>- Local FindWell implementation: findwell/security/untrusted_content.py, findwell/governance/strategy_registry.py, and demo/ae02/run_demo.py.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Demo left to right: capture context, quarantine the malicious instruction without losing adjacent evidence, then open the evidence/citation view. Close with the four measured completion proofs.</a:t>
            </a:r>
          </a:p>
          <a:p/>
          <a:p>
            <a:r>
              <a:t>[Sources]</a:t>
            </a:r>
          </a:p>
          <a:p>
            <a:r>
              <a:t>- Authentic local FindWell extension screenshots: ui-current.png, ui-warning.png, ui-evidence.png.</a:t>
            </a:r>
          </a:p>
          <a:p>
            <a:r>
              <a:t>- Local deterministic run: demo/ae02/run_demo.py and its exported improvement_log.json.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 the architecture top to bottom, then move to the right-side safety boundary. External sources and generated strategies are untrusted inputs. The trusted-control block owns policy, permissions, approval, and rollback. The evolution lane can propose behavior but cannot rewrite that control layer.</a:t>
            </a:r>
          </a:p>
          <a:p/>
          <a:p>
            <a:r>
              <a:t>[Sources]</a:t>
            </a:r>
          </a:p>
          <a:p>
            <a:r>
              <a:t>- Local FindWell project architecture: extension, Flutter app, findwell/pipeline, findwell/security, findwell/experiment, findwell/governance, findwell/research_package.py.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Lead with the ₹1,000–₹10,000 monthly MVP range. Explain that LLM calls are the largest variable, so the product routes simple tasks to smaller models, caches evidence, deduplicates retrieval, and enforces token and sandbox quotas. The ₹15,000–₹60,000 production range is a planning scenario for a small user base, not a vendor quotation.</a:t>
            </a:r>
          </a:p>
          <a:p/>
          <a:p>
            <a:r>
              <a:t>[Sources]</a:t>
            </a:r>
          </a:p>
          <a:p>
            <a:r>
              <a:t>- Planning estimates prepared for the FindWell AE-02 MVP; not vendor quotations.</a:t>
            </a:r>
          </a:p>
          <a:p>
            <a:r>
              <a:t>- Local project cost drivers: configurable LLM providers, live retrieval, database/storage, monitoring, and isolated sandbox execution.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buNone/>
              <a:defRPr sz="3150" b="0" i="0">
                <a:solidFill>
                  <a:schemeClr val="tx1"/>
                </a:solidFill>
                <a:latin typeface="Arial MT"/>
                <a:ea typeface="Arial MT"/>
                <a:cs typeface="Arial MT"/>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buNone/>
              <a:defRPr/>
            </a:lvl1pPr>
          </a:lstStyle>
          <a:p/>
        </p:txBody>
      </p:sp>
      <p:sp>
        <p:nvSpPr>
          <p:cNvPr id="4" name="Holder 4"/>
          <p:cNvSpPr>
            <a:spLocks noGrp="1"/>
          </p:cNvSpPr>
          <p:nvPr>
            <p:ph type="ftr" idx="5"/>
          </p:nvPr>
        </p:nvSpPr>
        <p:spPr/>
        <p:txBody>
          <a:bodyPr lIns="0" tIns="0" rIns="0" bIns="0"/>
          <a:lstStyle>
            <a:lvl1pPr algn="ctr">
              <a:buNone/>
              <a:defRPr>
                <a:solidFill>
                  <a:schemeClr val="tx1">
                    <a:tint val="75000"/>
                  </a:schemeClr>
                </a:solidFill>
              </a:defRPr>
            </a:lvl1pPr>
          </a:lstStyle>
          <a:p/>
        </p:txBody>
      </p:sp>
      <p:sp>
        <p:nvSpPr>
          <p:cNvPr id="5" name="Holder 5"/>
          <p:cNvSpPr>
            <a:spLocks noGrp="1"/>
          </p:cNvSpPr>
          <p:nvPr>
            <p:ph type="dt" idx="6"/>
          </p:nvPr>
        </p:nvSpPr>
        <p:spPr/>
        <p:txBody>
          <a:bodyPr lIns="0" tIns="0" rIns="0" bIns="0"/>
          <a:lstStyle>
            <a:lvl1pPr algn="l">
              <a:buNone/>
              <a:defRPr>
                <a:solidFill>
                  <a:schemeClr val="tx1">
                    <a:tint val="75000"/>
                  </a:schemeClr>
                </a:solidFill>
              </a:defRPr>
            </a:lvl1pPr>
          </a:lstStyle>
          <a:p/>
        </p:txBody>
      </p:sp>
      <p:sp>
        <p:nvSpPr>
          <p:cNvPr id="6" name="Holder 6"/>
          <p:cNvSpPr>
            <a:spLocks noGrp="1"/>
          </p:cNvSpPr>
          <p:nvPr>
            <p:ph type="sldNum" idx="7"/>
          </p:nvPr>
        </p:nvSpPr>
        <p:spPr/>
        <p:txBody>
          <a:bodyPr lIns="0" tIns="0" rIns="0" bIns="0"/>
          <a:lstStyle>
            <a:lvl1pPr algn="r">
              <a:buNone/>
              <a:defRPr>
                <a:solidFill>
                  <a:schemeClr val="tx1">
                    <a:tint val="75000"/>
                  </a:schemeClr>
                </a:solidFill>
              </a:defRPr>
            </a:lvl1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bg>
      <p:bgPr>
        <a:solidFill>
          <a:schemeClr val="bg1"/>
        </a:solidFill>
        <a:effectLst/>
      </p:bgPr>
    </p:bg>
    <p:spTree>
      <p:nvGrpSpPr>
        <p:cNvPr id="1" name=""/>
        <p:cNvGrpSpPr/>
        <p:nvPr/>
      </p:nvGrpSpPr>
      <p:grpSpPr/>
      <p:pic>
        <p:nvPicPr>
          <p:cNvPr id="8" name="bg object 16"/>
          <p:cNvPicPr>
            <a:picLocks noChangeAspect="1"/>
          </p:cNvPicPr>
          <p:nvPr/>
        </p:nvPicPr>
        <p:blipFill>
          <a:blip r:embed="rId2"/>
          <a:stretch>
            <a:fillRect/>
          </a:stretch>
        </p:blipFill>
        <p:spPr>
          <a:xfrm>
            <a:off x="13901315" y="556089"/>
            <a:ext cx="3695971" cy="986861"/>
          </a:xfrm>
          <a:prstGeom prst="rect">
            <a:avLst/>
          </a:prstGeom>
        </p:spPr>
      </p:pic>
      <p:sp>
        <p:nvSpPr>
          <p:cNvPr id="2" name="Holder 2"/>
          <p:cNvSpPr>
            <a:spLocks noGrp="1"/>
          </p:cNvSpPr>
          <p:nvPr>
            <p:ph type="title"/>
          </p:nvPr>
        </p:nvSpPr>
        <p:spPr/>
        <p:txBody>
          <a:bodyPr lIns="0" tIns="0" rIns="0" bIns="0"/>
          <a:lstStyle>
            <a:lvl1pPr>
              <a:buNone/>
              <a:defRPr sz="3150" b="0" i="0">
                <a:solidFill>
                  <a:schemeClr val="tx1"/>
                </a:solidFill>
                <a:latin typeface="Arial MT"/>
                <a:ea typeface="Arial MT"/>
                <a:cs typeface="Arial MT"/>
              </a:defRPr>
            </a:lvl1pPr>
          </a:lstStyle>
          <a:p/>
        </p:txBody>
      </p:sp>
      <p:sp>
        <p:nvSpPr>
          <p:cNvPr id="3" name="Holder 3"/>
          <p:cNvSpPr>
            <a:spLocks noGrp="1"/>
          </p:cNvSpPr>
          <p:nvPr>
            <p:ph type="body" idx="1"/>
          </p:nvPr>
        </p:nvSpPr>
        <p:spPr/>
        <p:txBody>
          <a:bodyPr lIns="0" tIns="0" rIns="0" bIns="0"/>
          <a:lstStyle>
            <a:lvl1pPr>
              <a:buNone/>
              <a:defRPr/>
            </a:lvl1pPr>
          </a:lstStyle>
          <a:p/>
        </p:txBody>
      </p:sp>
      <p:sp>
        <p:nvSpPr>
          <p:cNvPr id="4" name="Holder 4"/>
          <p:cNvSpPr>
            <a:spLocks noGrp="1"/>
          </p:cNvSpPr>
          <p:nvPr>
            <p:ph type="ftr" idx="5"/>
          </p:nvPr>
        </p:nvSpPr>
        <p:spPr/>
        <p:txBody>
          <a:bodyPr lIns="0" tIns="0" rIns="0" bIns="0"/>
          <a:lstStyle>
            <a:lvl1pPr algn="ctr">
              <a:buNone/>
              <a:defRPr>
                <a:solidFill>
                  <a:schemeClr val="tx1">
                    <a:tint val="75000"/>
                  </a:schemeClr>
                </a:solidFill>
              </a:defRPr>
            </a:lvl1pPr>
          </a:lstStyle>
          <a:p/>
        </p:txBody>
      </p:sp>
      <p:sp>
        <p:nvSpPr>
          <p:cNvPr id="5" name="Holder 5"/>
          <p:cNvSpPr>
            <a:spLocks noGrp="1"/>
          </p:cNvSpPr>
          <p:nvPr>
            <p:ph type="dt" idx="6"/>
          </p:nvPr>
        </p:nvSpPr>
        <p:spPr/>
        <p:txBody>
          <a:bodyPr lIns="0" tIns="0" rIns="0" bIns="0"/>
          <a:lstStyle>
            <a:lvl1pPr algn="l">
              <a:buNone/>
              <a:defRPr>
                <a:solidFill>
                  <a:schemeClr val="tx1">
                    <a:tint val="75000"/>
                  </a:schemeClr>
                </a:solidFill>
              </a:defRPr>
            </a:lvl1pPr>
          </a:lstStyle>
          <a:p/>
        </p:txBody>
      </p:sp>
      <p:sp>
        <p:nvSpPr>
          <p:cNvPr id="6" name="Holder 6"/>
          <p:cNvSpPr>
            <a:spLocks noGrp="1"/>
          </p:cNvSpPr>
          <p:nvPr>
            <p:ph type="sldNum" idx="7"/>
          </p:nvPr>
        </p:nvSpPr>
        <p:spPr/>
        <p:txBody>
          <a:bodyPr lIns="0" tIns="0" rIns="0" bIns="0"/>
          <a:lstStyle>
            <a:lvl1pPr algn="r">
              <a:buNone/>
              <a:defRPr>
                <a:solidFill>
                  <a:schemeClr val="tx1">
                    <a:tint val="75000"/>
                  </a:schemeClr>
                </a:solidFill>
              </a:defRPr>
            </a:lvl1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p:sp>
        <p:nvSpPr>
          <p:cNvPr id="2" name="Holder 2"/>
          <p:cNvSpPr>
            <a:spLocks noGrp="1"/>
          </p:cNvSpPr>
          <p:nvPr>
            <p:ph type="title"/>
          </p:nvPr>
        </p:nvSpPr>
        <p:spPr/>
        <p:txBody>
          <a:bodyPr lIns="0" tIns="0" rIns="0" bIns="0"/>
          <a:lstStyle>
            <a:lvl1pPr>
              <a:buNone/>
              <a:defRPr sz="3150" b="0" i="0">
                <a:solidFill>
                  <a:schemeClr val="tx1"/>
                </a:solidFill>
                <a:latin typeface="Arial MT"/>
                <a:ea typeface="Arial MT"/>
                <a:cs typeface="Arial MT"/>
              </a:defRPr>
            </a:lvl1pPr>
          </a:lstStyle>
          <a:p/>
        </p:txBody>
      </p:sp>
      <p:sp>
        <p:nvSpPr>
          <p:cNvPr id="3" name="Holder 3"/>
          <p:cNvSpPr>
            <a:spLocks noGrp="1"/>
          </p:cNvSpPr>
          <p:nvPr>
            <p:ph idx="2"/>
          </p:nvPr>
        </p:nvSpPr>
        <p:spPr>
          <a:xfrm>
            <a:off x="914400" y="2366010"/>
            <a:ext cx="7955280" cy="6789420"/>
          </a:xfrm>
          <a:prstGeom prst="rect">
            <a:avLst/>
          </a:prstGeom>
        </p:spPr>
        <p:txBody>
          <a:bodyPr wrap="square" lIns="0" tIns="0" rIns="0" bIns="0">
            <a:spAutoFit/>
          </a:bodyPr>
          <a:lstStyle>
            <a:lvl1pPr>
              <a:buNone/>
              <a:defRPr/>
            </a:lvl1pPr>
          </a:lstStyle>
          <a:p/>
        </p:txBody>
      </p:sp>
      <p:sp>
        <p:nvSpPr>
          <p:cNvPr id="4" name="Holder 4"/>
          <p:cNvSpPr>
            <a:spLocks noGrp="1"/>
          </p:cNvSpPr>
          <p:nvPr>
            <p:ph idx="3"/>
          </p:nvPr>
        </p:nvSpPr>
        <p:spPr>
          <a:xfrm>
            <a:off x="9418320" y="2366010"/>
            <a:ext cx="7955280" cy="6789420"/>
          </a:xfrm>
          <a:prstGeom prst="rect">
            <a:avLst/>
          </a:prstGeom>
        </p:spPr>
        <p:txBody>
          <a:bodyPr wrap="square" lIns="0" tIns="0" rIns="0" bIns="0">
            <a:spAutoFit/>
          </a:bodyPr>
          <a:lstStyle>
            <a:lvl1pPr>
              <a:buNone/>
              <a:defRPr/>
            </a:lvl1pPr>
          </a:lstStyle>
          <a:p/>
        </p:txBody>
      </p:sp>
      <p:sp>
        <p:nvSpPr>
          <p:cNvPr id="5" name="Holder 5"/>
          <p:cNvSpPr>
            <a:spLocks noGrp="1"/>
          </p:cNvSpPr>
          <p:nvPr>
            <p:ph type="ftr" idx="5"/>
          </p:nvPr>
        </p:nvSpPr>
        <p:spPr/>
        <p:txBody>
          <a:bodyPr lIns="0" tIns="0" rIns="0" bIns="0"/>
          <a:lstStyle>
            <a:lvl1pPr algn="ctr">
              <a:buNone/>
              <a:defRPr>
                <a:solidFill>
                  <a:schemeClr val="tx1">
                    <a:tint val="75000"/>
                  </a:schemeClr>
                </a:solidFill>
              </a:defRPr>
            </a:lvl1pPr>
          </a:lstStyle>
          <a:p/>
        </p:txBody>
      </p:sp>
      <p:sp>
        <p:nvSpPr>
          <p:cNvPr id="6" name="Holder 6"/>
          <p:cNvSpPr>
            <a:spLocks noGrp="1"/>
          </p:cNvSpPr>
          <p:nvPr>
            <p:ph type="dt" idx="6"/>
          </p:nvPr>
        </p:nvSpPr>
        <p:spPr/>
        <p:txBody>
          <a:bodyPr lIns="0" tIns="0" rIns="0" bIns="0"/>
          <a:lstStyle>
            <a:lvl1pPr algn="l">
              <a:buNone/>
              <a:defRPr>
                <a:solidFill>
                  <a:schemeClr val="tx1">
                    <a:tint val="75000"/>
                  </a:schemeClr>
                </a:solidFill>
              </a:defRPr>
            </a:lvl1pPr>
          </a:lstStyle>
          <a:p/>
        </p:txBody>
      </p:sp>
      <p:sp>
        <p:nvSpPr>
          <p:cNvPr id="7" name="Holder 7"/>
          <p:cNvSpPr>
            <a:spLocks noGrp="1"/>
          </p:cNvSpPr>
          <p:nvPr>
            <p:ph type="sldNum" idx="7"/>
          </p:nvPr>
        </p:nvSpPr>
        <p:spPr/>
        <p:txBody>
          <a:bodyPr lIns="0" tIns="0" rIns="0" bIns="0"/>
          <a:lstStyle>
            <a:lvl1pPr algn="r">
              <a:buNone/>
              <a:defRPr>
                <a:solidFill>
                  <a:schemeClr val="tx1">
                    <a:tint val="75000"/>
                  </a:schemeClr>
                </a:solidFill>
              </a:defRPr>
            </a:lvl1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p:sp>
        <p:nvSpPr>
          <p:cNvPr id="2" name="Holder 2"/>
          <p:cNvSpPr>
            <a:spLocks noGrp="1"/>
          </p:cNvSpPr>
          <p:nvPr>
            <p:ph type="title"/>
          </p:nvPr>
        </p:nvSpPr>
        <p:spPr/>
        <p:txBody>
          <a:bodyPr lIns="0" tIns="0" rIns="0" bIns="0"/>
          <a:lstStyle>
            <a:lvl1pPr>
              <a:buNone/>
              <a:defRPr sz="3150" b="0" i="0">
                <a:solidFill>
                  <a:schemeClr val="tx1"/>
                </a:solidFill>
                <a:latin typeface="Arial MT"/>
                <a:ea typeface="Arial MT"/>
                <a:cs typeface="Arial MT"/>
              </a:defRPr>
            </a:lvl1pPr>
          </a:lstStyle>
          <a:p/>
        </p:txBody>
      </p:sp>
      <p:sp>
        <p:nvSpPr>
          <p:cNvPr id="3" name="Holder 3"/>
          <p:cNvSpPr>
            <a:spLocks noGrp="1"/>
          </p:cNvSpPr>
          <p:nvPr>
            <p:ph type="ftr" idx="5"/>
          </p:nvPr>
        </p:nvSpPr>
        <p:spPr/>
        <p:txBody>
          <a:bodyPr lIns="0" tIns="0" rIns="0" bIns="0"/>
          <a:lstStyle>
            <a:lvl1pPr algn="ctr">
              <a:buNone/>
              <a:defRPr>
                <a:solidFill>
                  <a:schemeClr val="tx1">
                    <a:tint val="75000"/>
                  </a:schemeClr>
                </a:solidFill>
              </a:defRPr>
            </a:lvl1pPr>
          </a:lstStyle>
          <a:p/>
        </p:txBody>
      </p:sp>
      <p:sp>
        <p:nvSpPr>
          <p:cNvPr id="4" name="Holder 4"/>
          <p:cNvSpPr>
            <a:spLocks noGrp="1"/>
          </p:cNvSpPr>
          <p:nvPr>
            <p:ph type="dt" idx="6"/>
          </p:nvPr>
        </p:nvSpPr>
        <p:spPr/>
        <p:txBody>
          <a:bodyPr lIns="0" tIns="0" rIns="0" bIns="0"/>
          <a:lstStyle>
            <a:lvl1pPr algn="l">
              <a:buNone/>
              <a:defRPr>
                <a:solidFill>
                  <a:schemeClr val="tx1">
                    <a:tint val="75000"/>
                  </a:schemeClr>
                </a:solidFill>
              </a:defRPr>
            </a:lvl1pPr>
          </a:lstStyle>
          <a:p/>
        </p:txBody>
      </p:sp>
      <p:sp>
        <p:nvSpPr>
          <p:cNvPr id="5" name="Holder 5"/>
          <p:cNvSpPr>
            <a:spLocks noGrp="1"/>
          </p:cNvSpPr>
          <p:nvPr>
            <p:ph type="sldNum" idx="7"/>
          </p:nvPr>
        </p:nvSpPr>
        <p:spPr/>
        <p:txBody>
          <a:bodyPr lIns="0" tIns="0" rIns="0" bIns="0"/>
          <a:lstStyle>
            <a:lvl1pPr algn="r">
              <a:buNone/>
              <a:defRPr>
                <a:solidFill>
                  <a:schemeClr val="tx1">
                    <a:tint val="75000"/>
                  </a:schemeClr>
                </a:solidFill>
              </a:defRPr>
            </a:lvl1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p:sp>
        <p:nvSpPr>
          <p:cNvPr id="2" name="Holder 2"/>
          <p:cNvSpPr>
            <a:spLocks noGrp="1"/>
          </p:cNvSpPr>
          <p:nvPr>
            <p:ph type="ftr" idx="5"/>
          </p:nvPr>
        </p:nvSpPr>
        <p:spPr/>
        <p:txBody>
          <a:bodyPr lIns="0" tIns="0" rIns="0" bIns="0"/>
          <a:lstStyle>
            <a:lvl1pPr algn="ctr">
              <a:buNone/>
              <a:defRPr>
                <a:solidFill>
                  <a:schemeClr val="tx1">
                    <a:tint val="75000"/>
                  </a:schemeClr>
                </a:solidFill>
              </a:defRPr>
            </a:lvl1pPr>
          </a:lstStyle>
          <a:p/>
        </p:txBody>
      </p:sp>
      <p:sp>
        <p:nvSpPr>
          <p:cNvPr id="3" name="Holder 3"/>
          <p:cNvSpPr>
            <a:spLocks noGrp="1"/>
          </p:cNvSpPr>
          <p:nvPr>
            <p:ph type="dt" idx="6"/>
          </p:nvPr>
        </p:nvSpPr>
        <p:spPr/>
        <p:txBody>
          <a:bodyPr lIns="0" tIns="0" rIns="0" bIns="0"/>
          <a:lstStyle>
            <a:lvl1pPr algn="l">
              <a:buNone/>
              <a:defRPr>
                <a:solidFill>
                  <a:schemeClr val="tx1">
                    <a:tint val="75000"/>
                  </a:schemeClr>
                </a:solidFill>
              </a:defRPr>
            </a:lvl1pPr>
          </a:lstStyle>
          <a:p/>
        </p:txBody>
      </p:sp>
      <p:sp>
        <p:nvSpPr>
          <p:cNvPr id="4" name="Holder 4"/>
          <p:cNvSpPr>
            <a:spLocks noGrp="1"/>
          </p:cNvSpPr>
          <p:nvPr>
            <p:ph type="sldNum" idx="7"/>
          </p:nvPr>
        </p:nvSpPr>
        <p:spPr/>
        <p:txBody>
          <a:bodyPr lIns="0" tIns="0" rIns="0" bIns="0"/>
          <a:lstStyle>
            <a:lvl1pPr algn="r">
              <a:buNone/>
              <a:defRPr>
                <a:solidFill>
                  <a:schemeClr val="tx1">
                    <a:tint val="75000"/>
                  </a:schemeClr>
                </a:solidFill>
              </a:defRPr>
            </a:lvl1pPr>
          </a:lstStyle>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older 2"/>
          <p:cNvSpPr>
            <a:spLocks noGrp="1"/>
          </p:cNvSpPr>
          <p:nvPr>
            <p:ph type="title"/>
          </p:nvPr>
        </p:nvSpPr>
        <p:spPr>
          <a:xfrm>
            <a:off x="702424" y="1665109"/>
            <a:ext cx="12585065" cy="1141730"/>
          </a:xfrm>
          <a:prstGeom prst="rect">
            <a:avLst/>
          </a:prstGeom>
        </p:spPr>
        <p:txBody>
          <a:bodyPr wrap="square" lIns="0" tIns="0" rIns="0" bIns="0">
            <a:spAutoFit/>
          </a:bodyPr>
          <a:lstStyle>
            <a:lvl1pPr>
              <a:buNone/>
              <a:defRPr sz="3150" b="0" i="0">
                <a:solidFill>
                  <a:schemeClr val="tx1"/>
                </a:solidFill>
                <a:latin typeface="Arial MT"/>
                <a:ea typeface="Arial MT"/>
                <a:cs typeface="Arial MT"/>
              </a:defRPr>
            </a:lvl1pPr>
          </a:lstStyle>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buNone/>
              <a:defRPr/>
            </a:lvl1pPr>
          </a:lstStyle>
          <a:p/>
        </p:txBody>
      </p:sp>
      <p:sp>
        <p:nvSpPr>
          <p:cNvPr id="4" name="Holder 4"/>
          <p:cNvSpPr>
            <a:spLocks noGrp="1"/>
          </p:cNvSpPr>
          <p:nvPr>
            <p:ph type="ftr" idx="5"/>
          </p:nvPr>
        </p:nvSpPr>
        <p:spPr>
          <a:xfrm>
            <a:off x="6217920" y="9566910"/>
            <a:ext cx="5852160" cy="514350"/>
          </a:xfrm>
          <a:prstGeom prst="rect">
            <a:avLst/>
          </a:prstGeom>
        </p:spPr>
        <p:txBody>
          <a:bodyPr wrap="square" lIns="0" tIns="0" rIns="0" bIns="0">
            <a:spAutoFit/>
          </a:bodyPr>
          <a:lstStyle>
            <a:lvl1pPr algn="ctr">
              <a:buNone/>
              <a:defRPr>
                <a:solidFill>
                  <a:schemeClr val="tx1">
                    <a:tint val="75000"/>
                  </a:schemeClr>
                </a:solidFill>
              </a:defRPr>
            </a:lvl1pPr>
          </a:lstStyle>
          <a:p/>
        </p:txBody>
      </p:sp>
      <p:sp>
        <p:nvSpPr>
          <p:cNvPr id="5" name="Holder 5"/>
          <p:cNvSpPr>
            <a:spLocks noGrp="1"/>
          </p:cNvSpPr>
          <p:nvPr>
            <p:ph type="dt" idx="6"/>
          </p:nvPr>
        </p:nvSpPr>
        <p:spPr>
          <a:xfrm>
            <a:off x="914400" y="9566910"/>
            <a:ext cx="4206240" cy="514350"/>
          </a:xfrm>
          <a:prstGeom prst="rect">
            <a:avLst/>
          </a:prstGeom>
        </p:spPr>
        <p:txBody>
          <a:bodyPr wrap="square" lIns="0" tIns="0" rIns="0" bIns="0">
            <a:spAutoFit/>
          </a:bodyPr>
          <a:lstStyle>
            <a:lvl1pPr algn="l">
              <a:buNone/>
              <a:defRPr>
                <a:solidFill>
                  <a:schemeClr val="tx1">
                    <a:tint val="75000"/>
                  </a:schemeClr>
                </a:solidFill>
              </a:defRPr>
            </a:lvl1pPr>
          </a:lstStyle>
          <a:p/>
        </p:txBody>
      </p:sp>
      <p:sp>
        <p:nvSpPr>
          <p:cNvPr id="6" name="Holder 6"/>
          <p:cNvSpPr>
            <a:spLocks noGrp="1"/>
          </p:cNvSpPr>
          <p:nvPr>
            <p:ph type="sldNum" idx="7"/>
          </p:nvPr>
        </p:nvSpPr>
        <p:spPr>
          <a:xfrm>
            <a:off x="13167361" y="9566910"/>
            <a:ext cx="4206240" cy="514350"/>
          </a:xfrm>
          <a:prstGeom prst="rect">
            <a:avLst/>
          </a:prstGeom>
        </p:spPr>
        <p:txBody>
          <a:bodyPr wrap="square" lIns="0" tIns="0" rIns="0" bIns="0">
            <a:spAutoFit/>
          </a:bodyPr>
          <a:lstStyle>
            <a:lvl1pPr algn="r">
              <a:buNone/>
              <a:defRPr>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buNone/>
        <a:defRPr>
          <a:latin typeface="+mj-lt"/>
          <a:ea typeface="+mj-lt"/>
          <a:cs typeface="+mj-lt"/>
        </a:defRPr>
      </a:lvl1pPr>
    </p:titleStyle>
    <p:body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bodyStyle>
    <p:other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hyperlink" Target="https://www.linkedin.com/in/vinay-madhankar-9a3845375" TargetMode="External"/><Relationship Id="rId1" Type="http://schemas.openxmlformats.org/officeDocument/2006/relationships/hyperlink" Target="https://www.linkedin.com/in/ashish-mendhe" TargetMode="Externa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xml"/><Relationship Id="rId2" Type="http://schemas.openxmlformats.org/officeDocument/2006/relationships/image" Target="../media/image3.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6" name="object 2"/>
          <p:cNvPicPr>
            <a:picLocks noChangeAspect="1"/>
          </p:cNvPicPr>
          <p:nvPr/>
        </p:nvPicPr>
        <p:blipFill>
          <a:blip r:embed="rId1"/>
          <a:stretch>
            <a:fillRect/>
          </a:stretch>
        </p:blipFill>
        <p:spPr>
          <a:xfrm>
            <a:off x="0" y="0"/>
            <a:ext cx="18287999" cy="6803136"/>
          </a:xfrm>
          <a:prstGeom prst="rect">
            <a:avLst/>
          </a:prstGeom>
        </p:spPr>
      </p:pic>
      <p:sp>
        <p:nvSpPr>
          <p:cNvPr id="3" name="object 3"/>
          <p:cNvSpPr>
            <a:spLocks noGrp="1"/>
          </p:cNvSpPr>
          <p:nvPr/>
        </p:nvSpPr>
        <p:spPr>
          <a:xfrm>
            <a:off x="127635" y="6833870"/>
            <a:ext cx="18018125" cy="3300095"/>
          </a:xfrm>
          <a:prstGeom prst="rect">
            <a:avLst/>
          </a:prstGeom>
        </p:spPr>
        <p:txBody>
          <a:bodyPr vert="horz" wrap="square" lIns="0" tIns="100965" rIns="0" bIns="0">
            <a:noAutofit/>
          </a:bodyPr>
          <a:lstStyle/>
          <a:p>
            <a:pPr marL="12700">
              <a:lnSpc>
                <a:spcPct val="100000"/>
              </a:lnSpc>
              <a:spcBef>
                <a:spcPts val="795"/>
              </a:spcBef>
              <a:buNone/>
            </a:pPr>
            <a:r>
              <a:rPr sz="3500">
                <a:latin typeface="Lucida Sans Unicode" panose="020B0602030504020204"/>
                <a:ea typeface="Lucida Sans Unicode" panose="020B0602030504020204"/>
                <a:cs typeface="Lucida Sans Unicode" panose="020B0602030504020204"/>
              </a:rPr>
              <a:t>Team</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Name</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a:t>
            </a:r>
            <a:r>
              <a:rPr sz="3500">
                <a:latin typeface="Lucida Sans Unicode" panose="020B0602030504020204"/>
                <a:ea typeface="Lucida Sans Unicode" panose="020B0602030504020204"/>
                <a:cs typeface="Lucida Sans Unicode" panose="020B0602030504020204"/>
              </a:rPr>
              <a:t> Knights </a:t>
            </a:r>
            <a:endParaRPr sz="3500">
              <a:latin typeface="Lucida Sans Unicode" panose="020B0602030504020204"/>
              <a:ea typeface="Lucida Sans Unicode" panose="020B0602030504020204"/>
              <a:cs typeface="Lucida Sans Unicode" panose="020B0602030504020204"/>
            </a:endParaRPr>
          </a:p>
          <a:p>
            <a:pPr marL="12700" marR="5080">
              <a:lnSpc>
                <a:spcPct val="117000"/>
              </a:lnSpc>
              <a:buNone/>
            </a:pPr>
            <a:r>
              <a:rPr sz="3500">
                <a:latin typeface="Lucida Sans Unicode" panose="020B0602030504020204"/>
                <a:ea typeface="Lucida Sans Unicode" panose="020B0602030504020204"/>
                <a:cs typeface="Lucida Sans Unicode" panose="020B0602030504020204"/>
              </a:rPr>
              <a:t>Team</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Leader</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Name</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a:t>
            </a:r>
            <a:r>
              <a:rPr sz="3500">
                <a:latin typeface="Lucida Sans Unicode" panose="020B0602030504020204"/>
                <a:ea typeface="Lucida Sans Unicode" panose="020B0602030504020204"/>
                <a:cs typeface="Lucida Sans Unicode" panose="020B0602030504020204"/>
              </a:rPr>
              <a:t> Sumit Rajpurohit </a:t>
            </a:r>
            <a:endParaRPr sz="3500" spc="-420">
              <a:latin typeface="Lucida Sans Unicode" panose="020B0602030504020204"/>
              <a:ea typeface="Lucida Sans Unicode" panose="020B0602030504020204"/>
              <a:cs typeface="Lucida Sans Unicode" panose="020B0602030504020204"/>
            </a:endParaRPr>
          </a:p>
          <a:p>
            <a:pPr marL="12700" marR="5080">
              <a:lnSpc>
                <a:spcPct val="117000"/>
              </a:lnSpc>
              <a:buNone/>
            </a:pPr>
            <a:r>
              <a:rPr sz="3500">
                <a:latin typeface="Lucida Sans Unicode" panose="020B0602030504020204"/>
                <a:ea typeface="Lucida Sans Unicode" panose="020B0602030504020204"/>
                <a:cs typeface="Lucida Sans Unicode" panose="020B0602030504020204"/>
              </a:rPr>
              <a:t>Problem</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Statement</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Build a</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secure research</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and computer-use agent that</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can</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browse</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retrieve evidence,</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execute</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code,</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operate an</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isolated</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workspace, and</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improve its</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strategies</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over time without silently</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rewriting its</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trusted</a:t>
            </a:r>
            <a:r>
              <a:rPr sz="3500">
                <a:latin typeface="Lucida Sans Unicode" panose="020B0602030504020204"/>
                <a:ea typeface="Lucida Sans Unicode" panose="020B0602030504020204"/>
                <a:cs typeface="Lucida Sans Unicode" panose="020B0602030504020204"/>
              </a:rPr>
              <a:t> </a:t>
            </a:r>
            <a:r>
              <a:rPr sz="3500">
                <a:latin typeface="Lucida Sans Unicode" panose="020B0602030504020204"/>
                <a:ea typeface="Lucida Sans Unicode" panose="020B0602030504020204"/>
                <a:cs typeface="Lucida Sans Unicode" panose="020B0602030504020204"/>
              </a:rPr>
              <a:t>control layer.</a:t>
            </a:r>
            <a:endParaRPr sz="3500" spc="-420">
              <a:latin typeface="Lucida Sans Unicode" panose="020B0602030504020204"/>
              <a:ea typeface="Lucida Sans Unicode" panose="020B0602030504020204"/>
              <a:cs typeface="Lucida Sans Unicode" panose="020B0602030504020204"/>
            </a:endParaRPr>
          </a:p>
        </p:txBody>
      </p:sp>
      <p:pic>
        <p:nvPicPr>
          <p:cNvPr id="8" name="object 4"/>
          <p:cNvPicPr>
            <a:picLocks noChangeAspect="1"/>
          </p:cNvPicPr>
          <p:nvPr/>
        </p:nvPicPr>
        <p:blipFill>
          <a:blip r:embed="rId2"/>
          <a:stretch>
            <a:fillRect/>
          </a:stretch>
        </p:blipFill>
        <p:spPr>
          <a:xfrm>
            <a:off x="0" y="10012680"/>
            <a:ext cx="18287999" cy="2743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 name="object 2"/>
          <p:cNvGraphicFramePr/>
          <p:nvPr/>
        </p:nvGraphicFramePr>
        <p:xfrm>
          <a:off x="1450975" y="1564894"/>
          <a:ext cx="15396210" cy="8228965"/>
        </p:xfrm>
        <a:graphic>
          <a:graphicData uri="http://schemas.openxmlformats.org/drawingml/2006/table">
            <a:tbl>
              <a:tblPr firstRow="1" bandRow="1">
                <a:tableStyleId>{2D5ABB26-0587-4C30-8999-92F81FD0307C}</a:tableStyleId>
              </a:tblPr>
              <a:tblGrid>
                <a:gridCol w="7650480"/>
                <a:gridCol w="7650480"/>
              </a:tblGrid>
              <a:tr h="2463165">
                <a:tc gridSpan="2">
                  <a:txBody>
                    <a:bodyPr>
                      <a:spAutoFit/>
                    </a:bodyPr>
                    <a:lstStyle/>
                    <a:p>
                      <a:pPr algn="l">
                        <a:spcAft>
                          <a:spcPts val="5"/>
                        </a:spcAft>
                      </a:pPr>
                      <a:r>
                        <a:rPr sz="1425" b="1">
                          <a:solidFill>
                            <a:srgbClr val="FFD75A"/>
                          </a:solidFill>
                          <a:latin typeface="Arial" panose="020B0604020202020204"/>
                          <a:ea typeface="Arial" panose="020B0604020202020204"/>
                          <a:cs typeface="Arial" panose="020B0604020202020204"/>
                        </a:rPr>
                        <a:t>TEAM LEADER</a:t>
                      </a:r>
                      <a:endParaRPr sz="1425" b="1">
                        <a:solidFill>
                          <a:srgbClr val="FFD75A"/>
                        </a:solidFill>
                        <a:latin typeface="Arial" panose="020B0604020202020204"/>
                        <a:ea typeface="Arial" panose="020B0604020202020204"/>
                        <a:cs typeface="Arial" panose="020B0604020202020204"/>
                      </a:endParaRPr>
                    </a:p>
                    <a:p>
                      <a:pPr algn="l">
                        <a:spcAft>
                          <a:spcPts val="10"/>
                        </a:spcAft>
                      </a:pPr>
                      <a:r>
                        <a:rPr sz="2325" b="1">
                          <a:solidFill>
                            <a:srgbClr val="FFFFFF"/>
                          </a:solidFill>
                          <a:latin typeface="Arial" panose="020B0604020202020204"/>
                          <a:ea typeface="Arial" panose="020B0604020202020204"/>
                          <a:cs typeface="Arial" panose="020B0604020202020204"/>
                        </a:rPr>
                        <a:t>Sumit Rajpurohit</a:t>
                      </a:r>
                      <a:endParaRPr sz="2325" b="1">
                        <a:solidFill>
                          <a:srgbClr val="FFFFFF"/>
                        </a:solidFill>
                        <a:latin typeface="Arial" panose="020B0604020202020204"/>
                        <a:ea typeface="Arial" panose="020B0604020202020204"/>
                        <a:cs typeface="Arial" panose="020B0604020202020204"/>
                      </a:endParaRPr>
                    </a:p>
                    <a:p>
                      <a:pPr algn="l">
                        <a:spcAft>
                          <a:spcPts val="5"/>
                        </a:spcAft>
                      </a:pPr>
                      <a:r>
                        <a:rPr sz="1200" b="1">
                          <a:solidFill>
                            <a:srgbClr val="FFD75A"/>
                          </a:solidFill>
                          <a:latin typeface="Arial" panose="020B0604020202020204"/>
                          <a:ea typeface="Arial" panose="020B0604020202020204"/>
                          <a:cs typeface="Arial" panose="020B0604020202020204"/>
                        </a:rPr>
                        <a:t>College  </a:t>
                      </a:r>
                      <a:r>
                        <a:rPr sz="1425">
                          <a:solidFill>
                            <a:srgbClr val="FFFFFF"/>
                          </a:solidFill>
                          <a:latin typeface="Arial" panose="020B0604020202020204"/>
                          <a:ea typeface="Arial" panose="020B0604020202020204"/>
                          <a:cs typeface="Arial" panose="020B0604020202020204"/>
                        </a:rPr>
                        <a:t>CLG International School, Sumerpur</a:t>
                      </a:r>
                      <a:endParaRPr sz="1425">
                        <a:solidFill>
                          <a:srgbClr val="FFFFFF"/>
                        </a:solidFill>
                        <a:latin typeface="Arial" panose="020B0604020202020204"/>
                        <a:ea typeface="Arial" panose="020B0604020202020204"/>
                        <a:cs typeface="Arial" panose="020B0604020202020204"/>
                      </a:endParaRPr>
                    </a:p>
                    <a:p>
                      <a:pPr algn="l">
                        <a:spcAft>
                          <a:spcPts val="0"/>
                        </a:spcAft>
                      </a:pPr>
                      <a:r>
                        <a:rPr sz="1200" b="1">
                          <a:solidFill>
                            <a:srgbClr val="FFD75A"/>
                          </a:solidFill>
                          <a:latin typeface="Arial" panose="020B0604020202020204"/>
                          <a:ea typeface="Arial" panose="020B0604020202020204"/>
                          <a:cs typeface="Arial" panose="020B0604020202020204"/>
                        </a:rPr>
                        <a:t>LinkedIn  </a:t>
                      </a:r>
                      <a:r>
                        <a:rPr sz="1200">
                          <a:solidFill>
                            <a:srgbClr val="D8E5E0"/>
                          </a:solidFill>
                          <a:latin typeface="Arial" panose="020B0604020202020204"/>
                          <a:ea typeface="Arial" panose="020B0604020202020204"/>
                          <a:cs typeface="Arial" panose="020B0604020202020204"/>
                        </a:rPr>
                        <a:t>Not provided</a:t>
                      </a:r>
                      <a:endParaRPr sz="1200">
                        <a:solidFill>
                          <a:srgbClr val="D8E5E0"/>
                        </a:solidFill>
                        <a:latin typeface="Arial" panose="020B0604020202020204"/>
                        <a:ea typeface="Arial" panose="020B0604020202020204"/>
                        <a:cs typeface="Arial" panose="020B0604020202020204"/>
                      </a:endParaRPr>
                    </a:p>
                  </a:txBody>
                  <a:tcPr marL="247650" marR="247650" marT="190500" marB="171450" anchor="ctr" horzOverflow="clip">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0A2D27"/>
                    </a:solidFill>
                  </a:tcPr>
                </a:tc>
                <a:tc hMerge="1">
                  <a:tcPr marL="247650" marR="247650" marT="190500" marB="171450" anchor="ctr" horzOverflow="clip"/>
                </a:tc>
              </a:tr>
              <a:tr h="2882900">
                <a:tc>
                  <a:txBody>
                    <a:bodyPr>
                      <a:spAutoFit/>
                    </a:bodyPr>
                    <a:lstStyle/>
                    <a:p>
                      <a:pPr algn="l">
                        <a:spcAft>
                          <a:spcPts val="5"/>
                        </a:spcAft>
                      </a:pPr>
                      <a:r>
                        <a:rPr sz="1275" b="1">
                          <a:solidFill>
                            <a:srgbClr val="397A63"/>
                          </a:solidFill>
                          <a:latin typeface="Arial" panose="020B0604020202020204"/>
                          <a:ea typeface="Arial" panose="020B0604020202020204"/>
                          <a:cs typeface="Arial" panose="020B0604020202020204"/>
                        </a:rPr>
                        <a:t>TEAM MEMBER 1</a:t>
                      </a:r>
                      <a:endParaRPr sz="1275" b="1">
                        <a:solidFill>
                          <a:srgbClr val="397A63"/>
                        </a:solidFill>
                        <a:latin typeface="Arial" panose="020B0604020202020204"/>
                        <a:ea typeface="Arial" panose="020B0604020202020204"/>
                        <a:cs typeface="Arial" panose="020B0604020202020204"/>
                      </a:endParaRPr>
                    </a:p>
                    <a:p>
                      <a:pPr algn="l">
                        <a:spcAft>
                          <a:spcPts val="10"/>
                        </a:spcAft>
                      </a:pPr>
                      <a:r>
                        <a:rPr sz="2025" b="1">
                          <a:solidFill>
                            <a:srgbClr val="17201E"/>
                          </a:solidFill>
                          <a:latin typeface="Arial" panose="020B0604020202020204"/>
                          <a:ea typeface="Arial" panose="020B0604020202020204"/>
                          <a:cs typeface="Arial" panose="020B0604020202020204"/>
                        </a:rPr>
                        <a:t>Meet Soni</a:t>
                      </a:r>
                      <a:endParaRPr sz="2025" b="1">
                        <a:solidFill>
                          <a:srgbClr val="17201E"/>
                        </a:solidFill>
                        <a:latin typeface="Arial" panose="020B0604020202020204"/>
                        <a:ea typeface="Arial" panose="020B0604020202020204"/>
                        <a:cs typeface="Arial" panose="020B0604020202020204"/>
                      </a:endParaRPr>
                    </a:p>
                    <a:p>
                      <a:pPr algn="l">
                        <a:spcAft>
                          <a:spcPts val="5"/>
                        </a:spcAft>
                      </a:pPr>
                      <a:r>
                        <a:rPr sz="1200" b="1">
                          <a:solidFill>
                            <a:srgbClr val="397A63"/>
                          </a:solidFill>
                          <a:latin typeface="Arial" panose="020B0604020202020204"/>
                          <a:ea typeface="Arial" panose="020B0604020202020204"/>
                          <a:cs typeface="Arial" panose="020B0604020202020204"/>
                        </a:rPr>
                        <a:t>College  </a:t>
                      </a:r>
                      <a:r>
                        <a:rPr sz="1350">
                          <a:solidFill>
                            <a:srgbClr val="17201E"/>
                          </a:solidFill>
                          <a:latin typeface="Arial" panose="020B0604020202020204"/>
                          <a:ea typeface="Arial" panose="020B0604020202020204"/>
                          <a:cs typeface="Arial" panose="020B0604020202020204"/>
                        </a:rPr>
                        <a:t>St. Paul's School, Falna</a:t>
                      </a:r>
                      <a:endParaRPr sz="1350">
                        <a:solidFill>
                          <a:srgbClr val="17201E"/>
                        </a:solidFill>
                        <a:latin typeface="Arial" panose="020B0604020202020204"/>
                        <a:ea typeface="Arial" panose="020B0604020202020204"/>
                        <a:cs typeface="Arial" panose="020B0604020202020204"/>
                      </a:endParaRPr>
                    </a:p>
                    <a:p>
                      <a:pPr algn="l">
                        <a:spcAft>
                          <a:spcPts val="0"/>
                        </a:spcAft>
                      </a:pPr>
                      <a:r>
                        <a:rPr sz="1200" b="1">
                          <a:solidFill>
                            <a:srgbClr val="397A63"/>
                          </a:solidFill>
                          <a:latin typeface="Arial" panose="020B0604020202020204"/>
                          <a:ea typeface="Arial" panose="020B0604020202020204"/>
                          <a:cs typeface="Arial" panose="020B0604020202020204"/>
                        </a:rPr>
                        <a:t>LinkedIn  </a:t>
                      </a:r>
                      <a:r>
                        <a:rPr sz="1200">
                          <a:solidFill>
                            <a:srgbClr val="596560"/>
                          </a:solidFill>
                          <a:latin typeface="Arial" panose="020B0604020202020204"/>
                          <a:ea typeface="Arial" panose="020B0604020202020204"/>
                          <a:cs typeface="Arial" panose="020B0604020202020204"/>
                        </a:rPr>
                        <a:t>Not provided</a:t>
                      </a:r>
                      <a:endParaRPr sz="1200">
                        <a:solidFill>
                          <a:srgbClr val="596560"/>
                        </a:solidFill>
                        <a:latin typeface="Arial" panose="020B0604020202020204"/>
                        <a:ea typeface="Arial" panose="020B0604020202020204"/>
                        <a:cs typeface="Arial" panose="020B0604020202020204"/>
                      </a:endParaRPr>
                    </a:p>
                  </a:txBody>
                  <a:tcPr marL="247650" marR="247650" marT="190500" marB="171450" anchor="ctr" horzOverflow="clip">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F7F6"/>
                    </a:solidFill>
                  </a:tcPr>
                </a:tc>
                <a:tc>
                  <a:txBody>
                    <a:bodyPr>
                      <a:spAutoFit/>
                    </a:bodyPr>
                    <a:lstStyle/>
                    <a:p>
                      <a:pPr algn="l">
                        <a:spcAft>
                          <a:spcPts val="5"/>
                        </a:spcAft>
                      </a:pPr>
                      <a:r>
                        <a:rPr sz="1275" b="1">
                          <a:solidFill>
                            <a:srgbClr val="397A63"/>
                          </a:solidFill>
                          <a:latin typeface="Arial" panose="020B0604020202020204"/>
                          <a:ea typeface="Arial" panose="020B0604020202020204"/>
                          <a:cs typeface="Arial" panose="020B0604020202020204"/>
                        </a:rPr>
                        <a:t>TEAM MEMBER 3</a:t>
                      </a:r>
                      <a:endParaRPr sz="1275" b="1">
                        <a:solidFill>
                          <a:srgbClr val="397A63"/>
                        </a:solidFill>
                        <a:latin typeface="Arial" panose="020B0604020202020204"/>
                        <a:ea typeface="Arial" panose="020B0604020202020204"/>
                        <a:cs typeface="Arial" panose="020B0604020202020204"/>
                      </a:endParaRPr>
                    </a:p>
                    <a:p>
                      <a:pPr algn="l">
                        <a:spcAft>
                          <a:spcPts val="10"/>
                        </a:spcAft>
                      </a:pPr>
                      <a:r>
                        <a:rPr sz="2025" b="1">
                          <a:solidFill>
                            <a:srgbClr val="17201E"/>
                          </a:solidFill>
                          <a:latin typeface="Arial" panose="020B0604020202020204"/>
                          <a:ea typeface="Arial" panose="020B0604020202020204"/>
                          <a:cs typeface="Arial" panose="020B0604020202020204"/>
                        </a:rPr>
                        <a:t>Shivam Gaikwad</a:t>
                      </a:r>
                      <a:endParaRPr sz="2025" b="1">
                        <a:solidFill>
                          <a:srgbClr val="17201E"/>
                        </a:solidFill>
                        <a:latin typeface="Arial" panose="020B0604020202020204"/>
                        <a:ea typeface="Arial" panose="020B0604020202020204"/>
                        <a:cs typeface="Arial" panose="020B0604020202020204"/>
                      </a:endParaRPr>
                    </a:p>
                    <a:p>
                      <a:pPr algn="l">
                        <a:spcAft>
                          <a:spcPts val="5"/>
                        </a:spcAft>
                      </a:pPr>
                      <a:r>
                        <a:rPr sz="1200" b="1">
                          <a:solidFill>
                            <a:srgbClr val="397A63"/>
                          </a:solidFill>
                          <a:latin typeface="Arial" panose="020B0604020202020204"/>
                          <a:ea typeface="Arial" panose="020B0604020202020204"/>
                          <a:cs typeface="Arial" panose="020B0604020202020204"/>
                        </a:rPr>
                        <a:t>College  </a:t>
                      </a:r>
                      <a:r>
                        <a:rPr sz="1350">
                          <a:solidFill>
                            <a:srgbClr val="17201E"/>
                          </a:solidFill>
                          <a:latin typeface="Arial" panose="020B0604020202020204"/>
                          <a:ea typeface="Arial" panose="020B0604020202020204"/>
                          <a:cs typeface="Arial" panose="020B0604020202020204"/>
                        </a:rPr>
                        <a:t>JDCOEM, Nagpur</a:t>
                      </a:r>
                      <a:endParaRPr sz="1350">
                        <a:solidFill>
                          <a:srgbClr val="17201E"/>
                        </a:solidFill>
                        <a:latin typeface="Arial" panose="020B0604020202020204"/>
                        <a:ea typeface="Arial" panose="020B0604020202020204"/>
                        <a:cs typeface="Arial" panose="020B0604020202020204"/>
                      </a:endParaRPr>
                    </a:p>
                    <a:p>
                      <a:pPr algn="l">
                        <a:spcAft>
                          <a:spcPts val="0"/>
                        </a:spcAft>
                      </a:pPr>
                      <a:r>
                        <a:rPr sz="1200" b="1">
                          <a:solidFill>
                            <a:srgbClr val="397A63"/>
                          </a:solidFill>
                          <a:latin typeface="Arial" panose="020B0604020202020204"/>
                          <a:ea typeface="Arial" panose="020B0604020202020204"/>
                          <a:cs typeface="Arial" panose="020B0604020202020204"/>
                        </a:rPr>
                        <a:t>LinkedIn  </a:t>
                      </a:r>
                      <a:r>
                        <a:rPr sz="1200">
                          <a:solidFill>
                            <a:srgbClr val="596560"/>
                          </a:solidFill>
                          <a:latin typeface="Arial" panose="020B0604020202020204"/>
                          <a:ea typeface="Arial" panose="020B0604020202020204"/>
                          <a:cs typeface="Arial" panose="020B0604020202020204"/>
                        </a:rPr>
                        <a:t>Not provided</a:t>
                      </a:r>
                      <a:endParaRPr sz="1200">
                        <a:solidFill>
                          <a:srgbClr val="596560"/>
                        </a:solidFill>
                        <a:latin typeface="Arial" panose="020B0604020202020204"/>
                        <a:ea typeface="Arial" panose="020B0604020202020204"/>
                        <a:cs typeface="Arial" panose="020B0604020202020204"/>
                      </a:endParaRPr>
                    </a:p>
                  </a:txBody>
                  <a:tcPr marL="247650" marR="247650" marT="190500" marB="171450" anchor="ctr" horzOverflow="clip">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r>
              <a:tr h="2882900">
                <a:tc>
                  <a:txBody>
                    <a:bodyPr>
                      <a:spAutoFit/>
                    </a:bodyPr>
                    <a:lstStyle/>
                    <a:p>
                      <a:pPr algn="l">
                        <a:spcAft>
                          <a:spcPts val="5"/>
                        </a:spcAft>
                      </a:pPr>
                      <a:r>
                        <a:rPr sz="1275" b="1">
                          <a:solidFill>
                            <a:srgbClr val="397A63"/>
                          </a:solidFill>
                          <a:latin typeface="Arial" panose="020B0604020202020204"/>
                          <a:ea typeface="Arial" panose="020B0604020202020204"/>
                          <a:cs typeface="Arial" panose="020B0604020202020204"/>
                        </a:rPr>
                        <a:t>TEAM MEMBER 2</a:t>
                      </a:r>
                      <a:endParaRPr sz="1275" b="1">
                        <a:solidFill>
                          <a:srgbClr val="397A63"/>
                        </a:solidFill>
                        <a:latin typeface="Arial" panose="020B0604020202020204"/>
                        <a:ea typeface="Arial" panose="020B0604020202020204"/>
                        <a:cs typeface="Arial" panose="020B0604020202020204"/>
                      </a:endParaRPr>
                    </a:p>
                    <a:p>
                      <a:pPr algn="l">
                        <a:spcAft>
                          <a:spcPts val="10"/>
                        </a:spcAft>
                      </a:pPr>
                      <a:r>
                        <a:rPr sz="2025" b="1">
                          <a:solidFill>
                            <a:srgbClr val="17201E"/>
                          </a:solidFill>
                          <a:latin typeface="Arial" panose="020B0604020202020204"/>
                          <a:ea typeface="Arial" panose="020B0604020202020204"/>
                          <a:cs typeface="Arial" panose="020B0604020202020204"/>
                        </a:rPr>
                        <a:t>Ashishkumar Mendhe</a:t>
                      </a:r>
                      <a:endParaRPr sz="2025" b="1">
                        <a:solidFill>
                          <a:srgbClr val="17201E"/>
                        </a:solidFill>
                        <a:latin typeface="Arial" panose="020B0604020202020204"/>
                        <a:ea typeface="Arial" panose="020B0604020202020204"/>
                        <a:cs typeface="Arial" panose="020B0604020202020204"/>
                      </a:endParaRPr>
                    </a:p>
                    <a:p>
                      <a:pPr algn="l">
                        <a:spcAft>
                          <a:spcPts val="5"/>
                        </a:spcAft>
                      </a:pPr>
                      <a:r>
                        <a:rPr sz="1200" b="1">
                          <a:solidFill>
                            <a:srgbClr val="397A63"/>
                          </a:solidFill>
                          <a:latin typeface="Arial" panose="020B0604020202020204"/>
                          <a:ea typeface="Arial" panose="020B0604020202020204"/>
                          <a:cs typeface="Arial" panose="020B0604020202020204"/>
                        </a:rPr>
                        <a:t>College  </a:t>
                      </a:r>
                      <a:r>
                        <a:rPr sz="1350">
                          <a:solidFill>
                            <a:srgbClr val="17201E"/>
                          </a:solidFill>
                          <a:latin typeface="Arial" panose="020B0604020202020204"/>
                          <a:ea typeface="Arial" panose="020B0604020202020204"/>
                          <a:cs typeface="Arial" panose="020B0604020202020204"/>
                        </a:rPr>
                        <a:t>JDCOEM, Nagpur</a:t>
                      </a:r>
                      <a:endParaRPr sz="1350">
                        <a:solidFill>
                          <a:srgbClr val="17201E"/>
                        </a:solidFill>
                        <a:latin typeface="Arial" panose="020B0604020202020204"/>
                        <a:ea typeface="Arial" panose="020B0604020202020204"/>
                        <a:cs typeface="Arial" panose="020B0604020202020204"/>
                      </a:endParaRPr>
                    </a:p>
                    <a:p>
                      <a:pPr algn="l">
                        <a:spcAft>
                          <a:spcPts val="0"/>
                        </a:spcAft>
                      </a:pPr>
                      <a:r>
                        <a:rPr sz="1200" b="1">
                          <a:solidFill>
                            <a:srgbClr val="397A63"/>
                          </a:solidFill>
                          <a:latin typeface="Arial" panose="020B0604020202020204"/>
                          <a:ea typeface="Arial" panose="020B0604020202020204"/>
                          <a:cs typeface="Arial" panose="020B0604020202020204"/>
                        </a:rPr>
                        <a:t>LinkedIn  </a:t>
                      </a:r>
                      <a:r>
                        <a:rPr sz="1200" u="sng">
                          <a:solidFill>
                            <a:srgbClr val="397A63"/>
                          </a:solidFill>
                          <a:latin typeface="Arial" panose="020B0604020202020204"/>
                          <a:ea typeface="Arial" panose="020B0604020202020204"/>
                          <a:cs typeface="Arial" panose="020B0604020202020204"/>
                          <a:hlinkClick r:id="rId1"/>
                        </a:rPr>
                        <a:t>linkedin.com/in/ashish-mendhe</a:t>
                      </a:r>
                      <a:endParaRPr sz="1200" u="sng">
                        <a:solidFill>
                          <a:srgbClr val="397A63"/>
                        </a:solidFill>
                        <a:latin typeface="Arial" panose="020B0604020202020204"/>
                        <a:ea typeface="Arial" panose="020B0604020202020204"/>
                        <a:cs typeface="Arial" panose="020B0604020202020204"/>
                        <a:hlinkClick r:id="rId1"/>
                      </a:endParaRPr>
                    </a:p>
                  </a:txBody>
                  <a:tcPr marL="247650" marR="247650" marT="190500" marB="171450" anchor="ctr" horzOverflow="clip">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a:txBody>
                    <a:bodyPr>
                      <a:spAutoFit/>
                    </a:bodyPr>
                    <a:lstStyle/>
                    <a:p>
                      <a:pPr algn="l">
                        <a:spcAft>
                          <a:spcPts val="5"/>
                        </a:spcAft>
                      </a:pPr>
                      <a:r>
                        <a:rPr sz="1275" b="1">
                          <a:solidFill>
                            <a:srgbClr val="397A63"/>
                          </a:solidFill>
                          <a:latin typeface="Arial" panose="020B0604020202020204"/>
                          <a:ea typeface="Arial" panose="020B0604020202020204"/>
                          <a:cs typeface="Arial" panose="020B0604020202020204"/>
                        </a:rPr>
                        <a:t>TEAM MEMBER 4</a:t>
                      </a:r>
                      <a:endParaRPr sz="1275" b="1">
                        <a:solidFill>
                          <a:srgbClr val="397A63"/>
                        </a:solidFill>
                        <a:latin typeface="Arial" panose="020B0604020202020204"/>
                        <a:ea typeface="Arial" panose="020B0604020202020204"/>
                        <a:cs typeface="Arial" panose="020B0604020202020204"/>
                      </a:endParaRPr>
                    </a:p>
                    <a:p>
                      <a:pPr algn="l">
                        <a:spcAft>
                          <a:spcPts val="10"/>
                        </a:spcAft>
                      </a:pPr>
                      <a:r>
                        <a:rPr sz="2025" b="1">
                          <a:solidFill>
                            <a:srgbClr val="17201E"/>
                          </a:solidFill>
                          <a:latin typeface="Arial" panose="020B0604020202020204"/>
                          <a:ea typeface="Arial" panose="020B0604020202020204"/>
                          <a:cs typeface="Arial" panose="020B0604020202020204"/>
                        </a:rPr>
                        <a:t>Vinay Madhankar</a:t>
                      </a:r>
                      <a:endParaRPr sz="2025" b="1">
                        <a:solidFill>
                          <a:srgbClr val="17201E"/>
                        </a:solidFill>
                        <a:latin typeface="Arial" panose="020B0604020202020204"/>
                        <a:ea typeface="Arial" panose="020B0604020202020204"/>
                        <a:cs typeface="Arial" panose="020B0604020202020204"/>
                      </a:endParaRPr>
                    </a:p>
                    <a:p>
                      <a:pPr algn="l">
                        <a:spcAft>
                          <a:spcPts val="5"/>
                        </a:spcAft>
                      </a:pPr>
                      <a:r>
                        <a:rPr sz="1200" b="1">
                          <a:solidFill>
                            <a:srgbClr val="397A63"/>
                          </a:solidFill>
                          <a:latin typeface="Arial" panose="020B0604020202020204"/>
                          <a:ea typeface="Arial" panose="020B0604020202020204"/>
                          <a:cs typeface="Arial" panose="020B0604020202020204"/>
                        </a:rPr>
                        <a:t>College  </a:t>
                      </a:r>
                      <a:r>
                        <a:rPr sz="1350">
                          <a:solidFill>
                            <a:srgbClr val="17201E"/>
                          </a:solidFill>
                          <a:latin typeface="Arial" panose="020B0604020202020204"/>
                          <a:ea typeface="Arial" panose="020B0604020202020204"/>
                          <a:cs typeface="Arial" panose="020B0604020202020204"/>
                        </a:rPr>
                        <a:t>JDCOEM, Nagpur</a:t>
                      </a:r>
                      <a:endParaRPr sz="1350">
                        <a:solidFill>
                          <a:srgbClr val="17201E"/>
                        </a:solidFill>
                        <a:latin typeface="Arial" panose="020B0604020202020204"/>
                        <a:ea typeface="Arial" panose="020B0604020202020204"/>
                        <a:cs typeface="Arial" panose="020B0604020202020204"/>
                      </a:endParaRPr>
                    </a:p>
                    <a:p>
                      <a:pPr algn="l">
                        <a:spcAft>
                          <a:spcPts val="0"/>
                        </a:spcAft>
                      </a:pPr>
                      <a:r>
                        <a:rPr sz="1200" b="1">
                          <a:solidFill>
                            <a:srgbClr val="397A63"/>
                          </a:solidFill>
                          <a:latin typeface="Arial" panose="020B0604020202020204"/>
                          <a:ea typeface="Arial" panose="020B0604020202020204"/>
                          <a:cs typeface="Arial" panose="020B0604020202020204"/>
                        </a:rPr>
                        <a:t>LinkedIn  </a:t>
                      </a:r>
                      <a:r>
                        <a:rPr sz="1200" u="sng">
                          <a:solidFill>
                            <a:srgbClr val="397A63"/>
                          </a:solidFill>
                          <a:latin typeface="Arial" panose="020B0604020202020204"/>
                          <a:ea typeface="Arial" panose="020B0604020202020204"/>
                          <a:cs typeface="Arial" panose="020B0604020202020204"/>
                          <a:hlinkClick r:id="rId2"/>
                        </a:rPr>
                        <a:t>linkedin.com/in/vinay-madhankar-9a3845375</a:t>
                      </a:r>
                      <a:endParaRPr sz="1200" u="sng">
                        <a:solidFill>
                          <a:srgbClr val="397A63"/>
                        </a:solidFill>
                        <a:latin typeface="Arial" panose="020B0604020202020204"/>
                        <a:ea typeface="Arial" panose="020B0604020202020204"/>
                        <a:cs typeface="Arial" panose="020B0604020202020204"/>
                        <a:hlinkClick r:id="rId2"/>
                      </a:endParaRPr>
                    </a:p>
                  </a:txBody>
                  <a:tcPr marL="247650" marR="247650" marT="190500" marB="171450" anchor="ctr" horzOverflow="clip">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EAF2EE"/>
                    </a:solidFill>
                  </a:tcPr>
                </a:tc>
              </a:tr>
            </a:tbl>
          </a:graphicData>
        </a:graphic>
      </p:graphicFrame>
      <p:pic>
        <p:nvPicPr>
          <p:cNvPr id="8" name="object 3"/>
          <p:cNvPicPr>
            <a:picLocks noChangeAspect="1"/>
          </p:cNvPicPr>
          <p:nvPr/>
        </p:nvPicPr>
        <p:blipFill>
          <a:blip r:embed="rId3"/>
          <a:stretch>
            <a:fillRect/>
          </a:stretch>
        </p:blipFill>
        <p:spPr>
          <a:xfrm>
            <a:off x="0" y="10012680"/>
            <a:ext cx="18287999" cy="274317"/>
          </a:xfrm>
          <a:prstGeom prst="rect">
            <a:avLst/>
          </a:prstGeom>
        </p:spPr>
      </p:pic>
      <p:sp>
        <p:nvSpPr>
          <p:cNvPr id="4" name="object 4"/>
          <p:cNvSpPr>
            <a:spLocks noGrp="1"/>
          </p:cNvSpPr>
          <p:nvPr>
            <p:ph type="title"/>
          </p:nvPr>
        </p:nvSpPr>
        <p:spPr>
          <a:xfrm>
            <a:off x="914400" y="723900"/>
            <a:ext cx="9334500" cy="723900"/>
          </a:xfrm>
          <a:prstGeom prst="rect">
            <a:avLst/>
          </a:prstGeom>
        </p:spPr>
        <p:txBody>
          <a:bodyPr vert="horz" wrap="square" lIns="0" tIns="13335" rIns="0" bIns="0" anchor="ctr">
            <a:spAutoFit/>
          </a:bodyPr>
          <a:lstStyle/>
          <a:p>
            <a:pPr marL="12700" algn="l">
              <a:lnSpc>
                <a:spcPct val="100000"/>
              </a:lnSpc>
              <a:spcBef>
                <a:spcPts val="105"/>
              </a:spcBef>
              <a:buNone/>
              <a:defRPr sz="3300" b="1">
                <a:solidFill>
                  <a:srgbClr val="17201E"/>
                </a:solidFill>
              </a:defRPr>
            </a:pPr>
            <a:r>
              <a:rPr sz="3300" b="1">
                <a:solidFill>
                  <a:srgbClr val="17201E"/>
                </a:solidFill>
              </a:rPr>
              <a:t>Meet the Knights team</a:t>
            </a:r>
            <a:endParaRPr sz="4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ph type="title"/>
          </p:nvPr>
        </p:nvSpPr>
        <p:spPr>
          <a:xfrm>
            <a:off x="562610" y="1371600"/>
            <a:ext cx="16759555" cy="6631305"/>
          </a:xfrm>
          <a:prstGeom prst="rect">
            <a:avLst/>
          </a:prstGeom>
        </p:spPr>
        <p:txBody>
          <a:bodyPr vert="horz" wrap="square" lIns="0" tIns="91491" rIns="0" bIns="0">
            <a:noAutofit/>
          </a:bodyPr>
          <a:lstStyle/>
          <a:p>
            <a:pPr marL="12700">
              <a:lnSpc>
                <a:spcPct val="100000"/>
              </a:lnSpc>
              <a:spcBef>
                <a:spcPts val="115"/>
              </a:spcBef>
              <a:buNone/>
            </a:pPr>
            <a:r>
              <a:rPr sz="3300" b="1"/>
              <a:t>Brief about </a:t>
            </a:r>
            <a:r>
              <a:rPr sz="3300" b="1"/>
              <a:t>the Idea: </a:t>
            </a:r>
            <a:br>
              <a:rPr sz="3300"/>
            </a:br>
            <a:br>
              <a:rPr sz="3300"/>
            </a:br>
            <a:r>
              <a:rPr sz="3300" b="1"/>
              <a:t>FindWell</a:t>
            </a:r>
            <a:r>
              <a:rPr sz="3300"/>
              <a:t> is a secure, self-evolving autonomous research agent that converts complex questions into evidence-backed and reproducible research packages. It can plan investigations, browse and analyze webpages and PDFs, process structured datasets, execute code inside an isolated workspace, map claims to citations, and maintain an auditable action trace. Unlike ordinary research assistants, FindWell treats external content as untrusted, quarantines prompt-injection attacks while preserving useful evidence, and improves its retrieval strategies only after held-out testing and explicit human approval. Every strategy change is versioned, measurable, reversible, and prevented from modifying the trusted control layer.</a:t>
            </a:r>
            <a:br>
              <a:rPr sz="3300"/>
            </a:br>
            <a:endParaRPr sz="3300" spc="-10"/>
          </a:p>
        </p:txBody>
      </p:sp>
      <p:pic>
        <p:nvPicPr>
          <p:cNvPr id="6" name="object 3"/>
          <p:cNvPicPr>
            <a:picLocks noChangeAspect="1"/>
          </p:cNvPicPr>
          <p:nvPr/>
        </p:nvPicPr>
        <p:blipFill>
          <a:blip r:embed="rId1"/>
          <a:stretch>
            <a:fillRect/>
          </a:stretch>
        </p:blipFill>
        <p:spPr>
          <a:xfrm>
            <a:off x="13901315" y="556089"/>
            <a:ext cx="3695971" cy="986861"/>
          </a:xfrm>
          <a:prstGeom prst="rect">
            <a:avLst/>
          </a:prstGeom>
        </p:spPr>
      </p:pic>
      <p:pic>
        <p:nvPicPr>
          <p:cNvPr id="7" name="object 4"/>
          <p:cNvPicPr>
            <a:picLocks noChangeAspect="1"/>
          </p:cNvPicPr>
          <p:nvPr/>
        </p:nvPicPr>
        <p:blipFill>
          <a:blip r:embed="rId2"/>
          <a:stretch>
            <a:fillRect/>
          </a:stretch>
        </p:blipFill>
        <p:spPr>
          <a:xfrm>
            <a:off x="0" y="10012680"/>
            <a:ext cx="18287999" cy="2743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nvSpPr>
        <p:spPr>
          <a:xfrm>
            <a:off x="0" y="-38100"/>
            <a:ext cx="18280380" cy="10792460"/>
          </a:xfrm>
          <a:prstGeom prst="rect">
            <a:avLst/>
          </a:prstGeom>
        </p:spPr>
        <p:txBody>
          <a:bodyPr vert="horz" wrap="square" lIns="0" tIns="48260" rIns="0" bIns="0">
            <a:noAutofit/>
          </a:bodyPr>
          <a:lstStyle/>
          <a:p>
            <a:pPr marL="12700">
              <a:lnSpc>
                <a:spcPct val="100000"/>
              </a:lnSpc>
              <a:spcBef>
                <a:spcPts val="380"/>
              </a:spcBef>
              <a:buNone/>
            </a:pPr>
            <a:r>
              <a:rPr sz="2600">
                <a:latin typeface="Arial MT"/>
                <a:ea typeface="Arial MT"/>
                <a:cs typeface="Arial MT"/>
              </a:rPr>
              <a:t>WHY FINDWELL STANDS OUT</a:t>
            </a:r>
            <a:endParaRPr sz="2600">
              <a:latin typeface="Arial MT"/>
              <a:ea typeface="Arial MT"/>
              <a:cs typeface="Arial MT"/>
            </a:endParaRPr>
          </a:p>
          <a:p>
            <a:pPr marL="12700">
              <a:lnSpc>
                <a:spcPct val="100000"/>
              </a:lnSpc>
              <a:spcBef>
                <a:spcPts val="380"/>
              </a:spcBef>
              <a:buNone/>
            </a:pP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How is it different?</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Most existing research assistants only search, summarize, or generate citations. FindWell completes the full research cycle: it plans the investigation, analyzes webpages and PDFs, processes datasets, executes code, verifies claims, and exports a reproducible research package. It can improve its research strategy, but it cannot silently change its trusted safety controls.</a:t>
            </a:r>
            <a:endParaRPr sz="2600">
              <a:latin typeface="Arial MT"/>
              <a:ea typeface="Arial MT"/>
              <a:cs typeface="Arial MT"/>
            </a:endParaRPr>
          </a:p>
          <a:p>
            <a:pPr marL="12700">
              <a:lnSpc>
                <a:spcPct val="100000"/>
              </a:lnSpc>
              <a:spcBef>
                <a:spcPts val="380"/>
              </a:spcBef>
              <a:buNone/>
            </a:pP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How does it solve the problem?</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FindWell breaks a complex question into evidence requirements, retrieves information from multiple source types, quarantines malicious instructions while preserving useful evidence, performs calculations in an isolated workspace, and connects every claim to its source and transformation. Proposed strategy improvements are tested against the current strategy on held-out tasks, activated only after human approval, and can be rolled back.</a:t>
            </a:r>
            <a:endParaRPr sz="2600">
              <a:latin typeface="Arial MT"/>
              <a:ea typeface="Arial MT"/>
              <a:cs typeface="Arial MT"/>
            </a:endParaRPr>
          </a:p>
          <a:p>
            <a:pPr marL="12700">
              <a:lnSpc>
                <a:spcPct val="100000"/>
              </a:lnSpc>
              <a:spcBef>
                <a:spcPts val="380"/>
              </a:spcBef>
              <a:buNone/>
            </a:pP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Unique Selling Proposition</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“A research agent that learns better methods without gaining uncontrolled power.”</a:t>
            </a:r>
            <a:endParaRPr sz="2600">
              <a:latin typeface="Arial MT"/>
              <a:ea typeface="Arial MT"/>
              <a:cs typeface="Arial MT"/>
            </a:endParaRPr>
          </a:p>
          <a:p>
            <a:pPr marL="12700">
              <a:lnSpc>
                <a:spcPct val="100000"/>
              </a:lnSpc>
              <a:spcBef>
                <a:spcPts val="380"/>
              </a:spcBef>
              <a:buNone/>
            </a:pP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 Evidence-preserving prompt-injection quarantine</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 Claim-to-source provenance with reproducible code and data</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 Measurable baseline-versus-candidate strategy evaluation</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 Human-approved, versioned and rollbackable self-evolution</a:t>
            </a:r>
            <a:endParaRPr sz="2600">
              <a:latin typeface="Arial MT"/>
              <a:ea typeface="Arial MT"/>
              <a:cs typeface="Arial MT"/>
            </a:endParaRPr>
          </a:p>
          <a:p>
            <a:pPr marL="12700">
              <a:lnSpc>
                <a:spcPct val="100000"/>
              </a:lnSpc>
              <a:spcBef>
                <a:spcPts val="380"/>
              </a:spcBef>
              <a:buNone/>
            </a:pPr>
            <a:r>
              <a:rPr sz="2600">
                <a:latin typeface="Arial MT"/>
                <a:ea typeface="Arial MT"/>
                <a:cs typeface="Arial MT"/>
              </a:rPr>
              <a:t>• Complete export: cited report, evidence map, artifacts, trace and improvement log</a:t>
            </a:r>
            <a:endParaRPr sz="2600">
              <a:latin typeface="Arial MT"/>
              <a:ea typeface="Arial MT"/>
              <a:cs typeface="Arial MT"/>
            </a:endParaRPr>
          </a:p>
          <a:p>
            <a:pPr marL="12700">
              <a:lnSpc>
                <a:spcPct val="100000"/>
              </a:lnSpc>
              <a:spcBef>
                <a:spcPts val="380"/>
              </a:spcBef>
              <a:buNone/>
            </a:pPr>
            <a:endParaRPr sz="2400">
              <a:latin typeface="Arial MT"/>
              <a:ea typeface="Arial MT"/>
              <a:cs typeface="Arial MT"/>
            </a:endParaRPr>
          </a:p>
          <a:p>
            <a:pPr marL="815340" indent="-516255">
              <a:lnSpc>
                <a:spcPct val="100000"/>
              </a:lnSpc>
              <a:spcBef>
                <a:spcPts val="710"/>
              </a:spcBef>
              <a:buChar char="•"/>
              <a:tabLst>
                <a:tab pos="815340" algn="l"/>
              </a:tabLst>
            </a:pPr>
            <a:endParaRPr sz="2400">
              <a:latin typeface="Arial MT"/>
              <a:ea typeface="Arial MT"/>
              <a:cs typeface="Arial MT"/>
            </a:endParaRPr>
          </a:p>
        </p:txBody>
      </p:sp>
      <p:pic>
        <p:nvPicPr>
          <p:cNvPr id="6" name="object 3"/>
          <p:cNvPicPr>
            <a:picLocks noChangeAspect="1"/>
          </p:cNvPicPr>
          <p:nvPr/>
        </p:nvPicPr>
        <p:blipFill>
          <a:blip r:embed="rId1"/>
          <a:stretch>
            <a:fillRect/>
          </a:stretch>
        </p:blipFill>
        <p:spPr>
          <a:xfrm>
            <a:off x="13868295" y="266529"/>
            <a:ext cx="3695971" cy="986861"/>
          </a:xfrm>
          <a:prstGeom prst="rect">
            <a:avLst/>
          </a:prstGeom>
        </p:spPr>
      </p:pic>
      <p:pic>
        <p:nvPicPr>
          <p:cNvPr id="7" name="object 4"/>
          <p:cNvPicPr>
            <a:picLocks noChangeAspect="1"/>
          </p:cNvPicPr>
          <p:nvPr/>
        </p:nvPicPr>
        <p:blipFill>
          <a:blip r:embed="rId2"/>
          <a:stretch>
            <a:fillRect/>
          </a:stretch>
        </p:blipFill>
        <p:spPr>
          <a:xfrm>
            <a:off x="0" y="10012680"/>
            <a:ext cx="18287999" cy="2743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ph type="title"/>
          </p:nvPr>
        </p:nvSpPr>
        <p:spPr>
          <a:xfrm>
            <a:off x="702469" y="1665065"/>
            <a:ext cx="12585097" cy="1141762"/>
          </a:xfrm>
          <a:prstGeom prst="rect">
            <a:avLst/>
          </a:prstGeom>
        </p:spPr>
        <p:txBody>
          <a:bodyPr vert="horz" wrap="square" lIns="0" tIns="90170" rIns="0" bIns="0" anchor="ctr">
            <a:spAutoFit/>
          </a:bodyPr>
          <a:lstStyle/>
          <a:p>
            <a:pPr marL="12700">
              <a:lnSpc>
                <a:spcPct val="100000"/>
              </a:lnSpc>
              <a:spcBef>
                <a:spcPts val="710"/>
              </a:spcBef>
              <a:buNone/>
              <a:defRPr sz="3150" b="1">
                <a:solidFill>
                  <a:srgbClr val="17201E"/>
                </a:solidFill>
              </a:defRPr>
            </a:pPr>
            <a:r>
              <a:rPr sz="3150" b="1">
                <a:solidFill>
                  <a:srgbClr val="17201E"/>
                </a:solidFill>
              </a:rPr>
              <a:t>A governed flow turns questions into auditable research</a:t>
            </a:r>
            <a:endParaRPr spc="-10"/>
          </a:p>
        </p:txBody>
      </p:sp>
      <p:pic>
        <p:nvPicPr>
          <p:cNvPr id="296" name="object 3"/>
          <p:cNvPicPr>
            <a:picLocks noChangeAspect="1"/>
          </p:cNvPicPr>
          <p:nvPr/>
        </p:nvPicPr>
        <p:blipFill>
          <a:blip r:embed="rId1"/>
          <a:stretch>
            <a:fillRect/>
          </a:stretch>
        </p:blipFill>
        <p:spPr>
          <a:xfrm>
            <a:off x="13901315" y="556089"/>
            <a:ext cx="3695971" cy="986861"/>
          </a:xfrm>
          <a:prstGeom prst="rect">
            <a:avLst/>
          </a:prstGeom>
        </p:spPr>
      </p:pic>
      <p:pic>
        <p:nvPicPr>
          <p:cNvPr id="297" name="object 4"/>
          <p:cNvPicPr>
            <a:picLocks noChangeAspect="1"/>
          </p:cNvPicPr>
          <p:nvPr/>
        </p:nvPicPr>
        <p:blipFill>
          <a:blip r:embed="rId2"/>
          <a:stretch>
            <a:fillRect/>
          </a:stretch>
        </p:blipFill>
        <p:spPr>
          <a:xfrm>
            <a:off x="0" y="10012680"/>
            <a:ext cx="18287999" cy="274317"/>
          </a:xfrm>
          <a:prstGeom prst="rect">
            <a:avLst/>
          </a:prstGeom>
        </p:spPr>
      </p:pic>
      <p:sp>
        <p:nvSpPr>
          <p:cNvPr id="5" name="badge-COMPLETED &amp; TESTED"/>
          <p:cNvSpPr>
            <a:spLocks noGrp="1"/>
          </p:cNvSpPr>
          <p:nvPr/>
        </p:nvSpPr>
        <p:spPr>
          <a:xfrm>
            <a:off x="14144625" y="1771650"/>
            <a:ext cx="3143250" cy="533400"/>
          </a:xfrm>
          <a:prstGeom prst="roundRect">
            <a:avLst>
              <a:gd name="adj" fmla="val 21429"/>
            </a:avLst>
          </a:prstGeom>
          <a:solidFill>
            <a:srgbClr val="FFD75A"/>
          </a:solidFill>
          <a:ln w="9525">
            <a:solidFill>
              <a:srgbClr val="F2B600"/>
            </a:solidFill>
            <a:prstDash val="solid"/>
          </a:ln>
        </p:spPr>
      </p:sp>
      <p:sp>
        <p:nvSpPr>
          <p:cNvPr id="6" name="badge-text-COMPLETED &amp; TESTED"/>
          <p:cNvSpPr>
            <a:spLocks noGrp="1"/>
          </p:cNvSpPr>
          <p:nvPr/>
        </p:nvSpPr>
        <p:spPr>
          <a:xfrm>
            <a:off x="14306550" y="1895475"/>
            <a:ext cx="2819400" cy="266700"/>
          </a:xfrm>
          <a:prstGeom prst="rect">
            <a:avLst/>
          </a:prstGeom>
          <a:noFill/>
          <a:ln w="0">
            <a:noFill/>
            <a:prstDash val="solid"/>
          </a:ln>
        </p:spPr>
        <p:txBody>
          <a:bodyPr anchor="ctr"/>
          <a:lstStyle/>
          <a:p>
            <a:pPr algn="ctr">
              <a:buNone/>
              <a:defRPr sz="1350" b="1">
                <a:solidFill>
                  <a:srgbClr val="0A2D27"/>
                </a:solidFill>
              </a:defRPr>
            </a:pPr>
            <a:r>
              <a:rPr sz="1350" b="1">
                <a:solidFill>
                  <a:srgbClr val="0A2D27"/>
                </a:solidFill>
              </a:rPr>
              <a:t>COMPLETED &amp; TESTED</a:t>
            </a:r>
            <a:endParaRPr sz="1350" b="1">
              <a:solidFill>
                <a:srgbClr val="0A2D27"/>
              </a:solidFill>
            </a:endParaRPr>
          </a:p>
        </p:txBody>
      </p:sp>
      <p:sp>
        <p:nvSpPr>
          <p:cNvPr id="7" name="s5-subtitle"/>
          <p:cNvSpPr>
            <a:spLocks noGrp="1"/>
          </p:cNvSpPr>
          <p:nvPr/>
        </p:nvSpPr>
        <p:spPr>
          <a:xfrm>
            <a:off x="914400" y="2790825"/>
            <a:ext cx="13144500" cy="361950"/>
          </a:xfrm>
          <a:prstGeom prst="rect">
            <a:avLst/>
          </a:prstGeom>
          <a:noFill/>
          <a:ln w="0">
            <a:noFill/>
            <a:prstDash val="solid"/>
          </a:ln>
        </p:spPr>
        <p:txBody>
          <a:bodyPr anchor="t"/>
          <a:lstStyle/>
          <a:p>
            <a:pPr algn="l">
              <a:buNone/>
              <a:defRPr sz="1650" b="0">
                <a:solidFill>
                  <a:srgbClr val="596560"/>
                </a:solidFill>
              </a:defRPr>
            </a:pPr>
            <a:r>
              <a:rPr sz="1650" b="0">
                <a:solidFill>
                  <a:srgbClr val="596560"/>
                </a:solidFill>
              </a:rPr>
              <a:t>Every stage produces visible evidence, code, decisions, and rollback state.</a:t>
            </a:r>
            <a:endParaRPr sz="1650" b="0">
              <a:solidFill>
                <a:srgbClr val="596560"/>
              </a:solidFill>
            </a:endParaRPr>
          </a:p>
        </p:txBody>
      </p:sp>
      <p:sp>
        <p:nvSpPr>
          <p:cNvPr id="8" name="flow-plan"/>
          <p:cNvSpPr>
            <a:spLocks noGrp="1"/>
          </p:cNvSpPr>
          <p:nvPr/>
        </p:nvSpPr>
        <p:spPr>
          <a:xfrm>
            <a:off x="1066800" y="3667125"/>
            <a:ext cx="2381250" cy="1676400"/>
          </a:xfrm>
          <a:prstGeom prst="roundRect">
            <a:avLst>
              <a:gd name="adj" fmla="val 6818"/>
            </a:avLst>
          </a:prstGeom>
          <a:solidFill>
            <a:srgbClr val="F5F7F6"/>
          </a:solidFill>
          <a:ln w="12383">
            <a:solidFill>
              <a:srgbClr val="CFD9D4"/>
            </a:solidFill>
            <a:prstDash val="solid"/>
          </a:ln>
        </p:spPr>
      </p:sp>
      <p:sp>
        <p:nvSpPr>
          <p:cNvPr id="9" name="flow-number-plan"/>
          <p:cNvSpPr>
            <a:spLocks noGrp="1"/>
          </p:cNvSpPr>
          <p:nvPr/>
        </p:nvSpPr>
        <p:spPr>
          <a:xfrm>
            <a:off x="1238250" y="3848100"/>
            <a:ext cx="495300" cy="285750"/>
          </a:xfrm>
          <a:prstGeom prst="rect">
            <a:avLst/>
          </a:prstGeom>
          <a:noFill/>
          <a:ln w="0">
            <a:noFill/>
            <a:prstDash val="solid"/>
          </a:ln>
        </p:spPr>
        <p:txBody>
          <a:bodyPr anchor="t"/>
          <a:lstStyle/>
          <a:p>
            <a:pPr algn="l">
              <a:buNone/>
              <a:defRPr sz="1425" b="1">
                <a:solidFill>
                  <a:srgbClr val="F2B600"/>
                </a:solidFill>
              </a:defRPr>
            </a:pPr>
            <a:r>
              <a:rPr sz="1425" b="1">
                <a:solidFill>
                  <a:srgbClr val="F2B600"/>
                </a:solidFill>
              </a:rPr>
              <a:t>01</a:t>
            </a:r>
            <a:endParaRPr sz="1425" b="1">
              <a:solidFill>
                <a:srgbClr val="F2B600"/>
              </a:solidFill>
            </a:endParaRPr>
          </a:p>
        </p:txBody>
      </p:sp>
      <p:sp>
        <p:nvSpPr>
          <p:cNvPr id="10" name="flow-heading-plan"/>
          <p:cNvSpPr>
            <a:spLocks noGrp="1"/>
          </p:cNvSpPr>
          <p:nvPr/>
        </p:nvSpPr>
        <p:spPr>
          <a:xfrm>
            <a:off x="1238250" y="4229100"/>
            <a:ext cx="2038350" cy="304800"/>
          </a:xfrm>
          <a:prstGeom prst="rect">
            <a:avLst/>
          </a:prstGeom>
          <a:noFill/>
          <a:ln w="0">
            <a:noFill/>
            <a:prstDash val="solid"/>
          </a:ln>
        </p:spPr>
        <p:txBody>
          <a:bodyPr anchor="t"/>
          <a:lstStyle/>
          <a:p>
            <a:pPr algn="l">
              <a:buNone/>
              <a:defRPr sz="1650" b="1">
                <a:solidFill>
                  <a:srgbClr val="123F36"/>
                </a:solidFill>
              </a:defRPr>
            </a:pPr>
            <a:r>
              <a:rPr sz="1650" b="1">
                <a:solidFill>
                  <a:srgbClr val="123F36"/>
                </a:solidFill>
              </a:rPr>
              <a:t>PLAN</a:t>
            </a:r>
            <a:endParaRPr sz="1650" b="1">
              <a:solidFill>
                <a:srgbClr val="123F36"/>
              </a:solidFill>
            </a:endParaRPr>
          </a:p>
        </p:txBody>
      </p:sp>
      <p:sp>
        <p:nvSpPr>
          <p:cNvPr id="11" name="flow-body-plan"/>
          <p:cNvSpPr>
            <a:spLocks noGrp="1"/>
          </p:cNvSpPr>
          <p:nvPr/>
        </p:nvSpPr>
        <p:spPr>
          <a:xfrm>
            <a:off x="1238250" y="4629150"/>
            <a:ext cx="2038350" cy="5524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Subquestions, evidence needs, stop rules</a:t>
            </a:r>
            <a:endParaRPr sz="1275" b="0">
              <a:solidFill>
                <a:srgbClr val="596560"/>
              </a:solidFill>
            </a:endParaRPr>
          </a:p>
        </p:txBody>
      </p:sp>
      <p:sp>
        <p:nvSpPr>
          <p:cNvPr id="12" name="flow-retrieve"/>
          <p:cNvSpPr>
            <a:spLocks noGrp="1"/>
          </p:cNvSpPr>
          <p:nvPr/>
        </p:nvSpPr>
        <p:spPr>
          <a:xfrm>
            <a:off x="3810000" y="3667125"/>
            <a:ext cx="2381250" cy="1676400"/>
          </a:xfrm>
          <a:prstGeom prst="roundRect">
            <a:avLst>
              <a:gd name="adj" fmla="val 6818"/>
            </a:avLst>
          </a:prstGeom>
          <a:solidFill>
            <a:srgbClr val="F5F7F6"/>
          </a:solidFill>
          <a:ln w="12383">
            <a:solidFill>
              <a:srgbClr val="CFD9D4"/>
            </a:solidFill>
            <a:prstDash val="solid"/>
          </a:ln>
        </p:spPr>
      </p:sp>
      <p:sp>
        <p:nvSpPr>
          <p:cNvPr id="13" name="flow-number-retrieve"/>
          <p:cNvSpPr>
            <a:spLocks noGrp="1"/>
          </p:cNvSpPr>
          <p:nvPr/>
        </p:nvSpPr>
        <p:spPr>
          <a:xfrm>
            <a:off x="3981450" y="3848100"/>
            <a:ext cx="495300" cy="285750"/>
          </a:xfrm>
          <a:prstGeom prst="rect">
            <a:avLst/>
          </a:prstGeom>
          <a:noFill/>
          <a:ln w="0">
            <a:noFill/>
            <a:prstDash val="solid"/>
          </a:ln>
        </p:spPr>
        <p:txBody>
          <a:bodyPr anchor="t"/>
          <a:lstStyle/>
          <a:p>
            <a:pPr algn="l">
              <a:buNone/>
              <a:defRPr sz="1425" b="1">
                <a:solidFill>
                  <a:srgbClr val="F2B600"/>
                </a:solidFill>
              </a:defRPr>
            </a:pPr>
            <a:r>
              <a:rPr sz="1425" b="1">
                <a:solidFill>
                  <a:srgbClr val="F2B600"/>
                </a:solidFill>
              </a:rPr>
              <a:t>02</a:t>
            </a:r>
            <a:endParaRPr sz="1425" b="1">
              <a:solidFill>
                <a:srgbClr val="F2B600"/>
              </a:solidFill>
            </a:endParaRPr>
          </a:p>
        </p:txBody>
      </p:sp>
      <p:sp>
        <p:nvSpPr>
          <p:cNvPr id="14" name="flow-heading-retrieve"/>
          <p:cNvSpPr>
            <a:spLocks noGrp="1"/>
          </p:cNvSpPr>
          <p:nvPr/>
        </p:nvSpPr>
        <p:spPr>
          <a:xfrm>
            <a:off x="3981450" y="4229100"/>
            <a:ext cx="2038350" cy="304800"/>
          </a:xfrm>
          <a:prstGeom prst="rect">
            <a:avLst/>
          </a:prstGeom>
          <a:noFill/>
          <a:ln w="0">
            <a:noFill/>
            <a:prstDash val="solid"/>
          </a:ln>
        </p:spPr>
        <p:txBody>
          <a:bodyPr anchor="t"/>
          <a:lstStyle/>
          <a:p>
            <a:pPr algn="l">
              <a:buNone/>
              <a:defRPr sz="1650" b="1">
                <a:solidFill>
                  <a:srgbClr val="123F36"/>
                </a:solidFill>
              </a:defRPr>
            </a:pPr>
            <a:r>
              <a:rPr sz="1650" b="1">
                <a:solidFill>
                  <a:srgbClr val="123F36"/>
                </a:solidFill>
              </a:rPr>
              <a:t>RETRIEVE</a:t>
            </a:r>
            <a:endParaRPr sz="1650" b="1">
              <a:solidFill>
                <a:srgbClr val="123F36"/>
              </a:solidFill>
            </a:endParaRPr>
          </a:p>
        </p:txBody>
      </p:sp>
      <p:sp>
        <p:nvSpPr>
          <p:cNvPr id="15" name="flow-body-retrieve"/>
          <p:cNvSpPr>
            <a:spLocks noGrp="1"/>
          </p:cNvSpPr>
          <p:nvPr/>
        </p:nvSpPr>
        <p:spPr>
          <a:xfrm>
            <a:off x="3981450" y="4629150"/>
            <a:ext cx="2038350" cy="5524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Web, PDF, dataset, prior memory</a:t>
            </a:r>
            <a:endParaRPr sz="1275" b="0">
              <a:solidFill>
                <a:srgbClr val="596560"/>
              </a:solidFill>
            </a:endParaRPr>
          </a:p>
        </p:txBody>
      </p:sp>
      <p:sp>
        <p:nvSpPr>
          <p:cNvPr id="16" name="flow-quarantine"/>
          <p:cNvSpPr>
            <a:spLocks noGrp="1"/>
          </p:cNvSpPr>
          <p:nvPr/>
        </p:nvSpPr>
        <p:spPr>
          <a:xfrm>
            <a:off x="6553200" y="3667125"/>
            <a:ext cx="2381250" cy="1676400"/>
          </a:xfrm>
          <a:prstGeom prst="roundRect">
            <a:avLst>
              <a:gd name="adj" fmla="val 6818"/>
            </a:avLst>
          </a:prstGeom>
          <a:solidFill>
            <a:srgbClr val="0A2D27"/>
          </a:solidFill>
          <a:ln w="0">
            <a:solidFill>
              <a:srgbClr val="0A2D27"/>
            </a:solidFill>
            <a:prstDash val="solid"/>
          </a:ln>
        </p:spPr>
      </p:sp>
      <p:sp>
        <p:nvSpPr>
          <p:cNvPr id="17" name="flow-number-quarantine"/>
          <p:cNvSpPr>
            <a:spLocks noGrp="1"/>
          </p:cNvSpPr>
          <p:nvPr/>
        </p:nvSpPr>
        <p:spPr>
          <a:xfrm>
            <a:off x="6724650" y="3848100"/>
            <a:ext cx="495300" cy="285750"/>
          </a:xfrm>
          <a:prstGeom prst="rect">
            <a:avLst/>
          </a:prstGeom>
          <a:noFill/>
          <a:ln w="0">
            <a:noFill/>
            <a:prstDash val="solid"/>
          </a:ln>
        </p:spPr>
        <p:txBody>
          <a:bodyPr anchor="t"/>
          <a:lstStyle/>
          <a:p>
            <a:pPr algn="l">
              <a:buNone/>
              <a:defRPr sz="1425" b="1">
                <a:solidFill>
                  <a:srgbClr val="FFD75A"/>
                </a:solidFill>
              </a:defRPr>
            </a:pPr>
            <a:r>
              <a:rPr sz="1425" b="1">
                <a:solidFill>
                  <a:srgbClr val="FFD75A"/>
                </a:solidFill>
              </a:rPr>
              <a:t>03</a:t>
            </a:r>
            <a:endParaRPr sz="1425" b="1">
              <a:solidFill>
                <a:srgbClr val="FFD75A"/>
              </a:solidFill>
            </a:endParaRPr>
          </a:p>
        </p:txBody>
      </p:sp>
      <p:sp>
        <p:nvSpPr>
          <p:cNvPr id="18" name="flow-heading-quarantine"/>
          <p:cNvSpPr>
            <a:spLocks noGrp="1"/>
          </p:cNvSpPr>
          <p:nvPr/>
        </p:nvSpPr>
        <p:spPr>
          <a:xfrm>
            <a:off x="6724650" y="4229100"/>
            <a:ext cx="2038350" cy="304800"/>
          </a:xfrm>
          <a:prstGeom prst="rect">
            <a:avLst/>
          </a:prstGeom>
          <a:noFill/>
          <a:ln w="0">
            <a:noFill/>
            <a:prstDash val="solid"/>
          </a:ln>
        </p:spPr>
        <p:txBody>
          <a:bodyPr anchor="t"/>
          <a:lstStyle/>
          <a:p>
            <a:pPr algn="l">
              <a:buNone/>
              <a:defRPr sz="1650" b="1">
                <a:solidFill>
                  <a:srgbClr val="FFFFFF"/>
                </a:solidFill>
              </a:defRPr>
            </a:pPr>
            <a:r>
              <a:rPr sz="1650" b="1">
                <a:solidFill>
                  <a:srgbClr val="FFFFFF"/>
                </a:solidFill>
              </a:rPr>
              <a:t>QUARANTINE</a:t>
            </a:r>
            <a:endParaRPr sz="1650" b="1">
              <a:solidFill>
                <a:srgbClr val="FFFFFF"/>
              </a:solidFill>
            </a:endParaRPr>
          </a:p>
        </p:txBody>
      </p:sp>
      <p:sp>
        <p:nvSpPr>
          <p:cNvPr id="19" name="flow-body-quarantine"/>
          <p:cNvSpPr>
            <a:spLocks noGrp="1"/>
          </p:cNvSpPr>
          <p:nvPr/>
        </p:nvSpPr>
        <p:spPr>
          <a:xfrm>
            <a:off x="6724650" y="4629150"/>
            <a:ext cx="2038350" cy="552450"/>
          </a:xfrm>
          <a:prstGeom prst="rect">
            <a:avLst/>
          </a:prstGeom>
          <a:noFill/>
          <a:ln w="0">
            <a:noFill/>
            <a:prstDash val="solid"/>
          </a:ln>
        </p:spPr>
        <p:txBody>
          <a:bodyPr anchor="t"/>
          <a:lstStyle/>
          <a:p>
            <a:pPr algn="l">
              <a:buNone/>
              <a:defRPr sz="1275" b="0">
                <a:solidFill>
                  <a:srgbClr val="FFFFFF"/>
                </a:solidFill>
              </a:defRPr>
            </a:pPr>
            <a:r>
              <a:rPr sz="1275" b="0">
                <a:solidFill>
                  <a:srgbClr val="FFFFFF"/>
                </a:solidFill>
              </a:rPr>
              <a:t>Remove attack; preserve clean evidence</a:t>
            </a:r>
            <a:endParaRPr sz="1275" b="0">
              <a:solidFill>
                <a:srgbClr val="FFFFFF"/>
              </a:solidFill>
            </a:endParaRPr>
          </a:p>
        </p:txBody>
      </p:sp>
      <p:sp>
        <p:nvSpPr>
          <p:cNvPr id="20" name="flow-execute"/>
          <p:cNvSpPr>
            <a:spLocks noGrp="1"/>
          </p:cNvSpPr>
          <p:nvPr/>
        </p:nvSpPr>
        <p:spPr>
          <a:xfrm>
            <a:off x="9296400" y="3667125"/>
            <a:ext cx="2381250" cy="1676400"/>
          </a:xfrm>
          <a:prstGeom prst="roundRect">
            <a:avLst>
              <a:gd name="adj" fmla="val 6818"/>
            </a:avLst>
          </a:prstGeom>
          <a:solidFill>
            <a:srgbClr val="F5F7F6"/>
          </a:solidFill>
          <a:ln w="12383">
            <a:solidFill>
              <a:srgbClr val="CFD9D4"/>
            </a:solidFill>
            <a:prstDash val="solid"/>
          </a:ln>
        </p:spPr>
      </p:sp>
      <p:sp>
        <p:nvSpPr>
          <p:cNvPr id="21" name="flow-number-execute"/>
          <p:cNvSpPr>
            <a:spLocks noGrp="1"/>
          </p:cNvSpPr>
          <p:nvPr/>
        </p:nvSpPr>
        <p:spPr>
          <a:xfrm>
            <a:off x="9467850" y="3848100"/>
            <a:ext cx="495300" cy="285750"/>
          </a:xfrm>
          <a:prstGeom prst="rect">
            <a:avLst/>
          </a:prstGeom>
          <a:noFill/>
          <a:ln w="0">
            <a:noFill/>
            <a:prstDash val="solid"/>
          </a:ln>
        </p:spPr>
        <p:txBody>
          <a:bodyPr anchor="t"/>
          <a:lstStyle/>
          <a:p>
            <a:pPr algn="l">
              <a:buNone/>
              <a:defRPr sz="1425" b="1">
                <a:solidFill>
                  <a:srgbClr val="F2B600"/>
                </a:solidFill>
              </a:defRPr>
            </a:pPr>
            <a:r>
              <a:rPr sz="1425" b="1">
                <a:solidFill>
                  <a:srgbClr val="F2B600"/>
                </a:solidFill>
              </a:rPr>
              <a:t>04</a:t>
            </a:r>
            <a:endParaRPr sz="1425" b="1">
              <a:solidFill>
                <a:srgbClr val="F2B600"/>
              </a:solidFill>
            </a:endParaRPr>
          </a:p>
        </p:txBody>
      </p:sp>
      <p:sp>
        <p:nvSpPr>
          <p:cNvPr id="22" name="flow-heading-execute"/>
          <p:cNvSpPr>
            <a:spLocks noGrp="1"/>
          </p:cNvSpPr>
          <p:nvPr/>
        </p:nvSpPr>
        <p:spPr>
          <a:xfrm>
            <a:off x="9467850" y="4229100"/>
            <a:ext cx="2038350" cy="304800"/>
          </a:xfrm>
          <a:prstGeom prst="rect">
            <a:avLst/>
          </a:prstGeom>
          <a:noFill/>
          <a:ln w="0">
            <a:noFill/>
            <a:prstDash val="solid"/>
          </a:ln>
        </p:spPr>
        <p:txBody>
          <a:bodyPr anchor="t"/>
          <a:lstStyle/>
          <a:p>
            <a:pPr algn="l">
              <a:buNone/>
              <a:defRPr sz="1650" b="1">
                <a:solidFill>
                  <a:srgbClr val="123F36"/>
                </a:solidFill>
              </a:defRPr>
            </a:pPr>
            <a:r>
              <a:rPr sz="1650" b="1">
                <a:solidFill>
                  <a:srgbClr val="123F36"/>
                </a:solidFill>
              </a:rPr>
              <a:t>EXECUTE</a:t>
            </a:r>
            <a:endParaRPr sz="1650" b="1">
              <a:solidFill>
                <a:srgbClr val="123F36"/>
              </a:solidFill>
            </a:endParaRPr>
          </a:p>
        </p:txBody>
      </p:sp>
      <p:sp>
        <p:nvSpPr>
          <p:cNvPr id="23" name="flow-body-execute"/>
          <p:cNvSpPr>
            <a:spLocks noGrp="1"/>
          </p:cNvSpPr>
          <p:nvPr/>
        </p:nvSpPr>
        <p:spPr>
          <a:xfrm>
            <a:off x="9467850" y="4629150"/>
            <a:ext cx="2038350" cy="5524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Run calculations in a constrained workspace</a:t>
            </a:r>
            <a:endParaRPr sz="1275" b="0">
              <a:solidFill>
                <a:srgbClr val="596560"/>
              </a:solidFill>
            </a:endParaRPr>
          </a:p>
        </p:txBody>
      </p:sp>
      <p:sp>
        <p:nvSpPr>
          <p:cNvPr id="24" name="flow-verify"/>
          <p:cNvSpPr>
            <a:spLocks noGrp="1"/>
          </p:cNvSpPr>
          <p:nvPr/>
        </p:nvSpPr>
        <p:spPr>
          <a:xfrm>
            <a:off x="12039600" y="3667125"/>
            <a:ext cx="2381250" cy="1676400"/>
          </a:xfrm>
          <a:prstGeom prst="roundRect">
            <a:avLst>
              <a:gd name="adj" fmla="val 6818"/>
            </a:avLst>
          </a:prstGeom>
          <a:solidFill>
            <a:srgbClr val="F5F7F6"/>
          </a:solidFill>
          <a:ln w="12383">
            <a:solidFill>
              <a:srgbClr val="CFD9D4"/>
            </a:solidFill>
            <a:prstDash val="solid"/>
          </a:ln>
        </p:spPr>
      </p:sp>
      <p:sp>
        <p:nvSpPr>
          <p:cNvPr id="25" name="flow-number-verify"/>
          <p:cNvSpPr>
            <a:spLocks noGrp="1"/>
          </p:cNvSpPr>
          <p:nvPr/>
        </p:nvSpPr>
        <p:spPr>
          <a:xfrm>
            <a:off x="12211050" y="3848100"/>
            <a:ext cx="495300" cy="285750"/>
          </a:xfrm>
          <a:prstGeom prst="rect">
            <a:avLst/>
          </a:prstGeom>
          <a:noFill/>
          <a:ln w="0">
            <a:noFill/>
            <a:prstDash val="solid"/>
          </a:ln>
        </p:spPr>
        <p:txBody>
          <a:bodyPr anchor="t"/>
          <a:lstStyle/>
          <a:p>
            <a:pPr algn="l">
              <a:buNone/>
              <a:defRPr sz="1425" b="1">
                <a:solidFill>
                  <a:srgbClr val="F2B600"/>
                </a:solidFill>
              </a:defRPr>
            </a:pPr>
            <a:r>
              <a:rPr sz="1425" b="1">
                <a:solidFill>
                  <a:srgbClr val="F2B600"/>
                </a:solidFill>
              </a:rPr>
              <a:t>05</a:t>
            </a:r>
            <a:endParaRPr sz="1425" b="1">
              <a:solidFill>
                <a:srgbClr val="F2B600"/>
              </a:solidFill>
            </a:endParaRPr>
          </a:p>
        </p:txBody>
      </p:sp>
      <p:sp>
        <p:nvSpPr>
          <p:cNvPr id="26" name="flow-heading-verify"/>
          <p:cNvSpPr>
            <a:spLocks noGrp="1"/>
          </p:cNvSpPr>
          <p:nvPr/>
        </p:nvSpPr>
        <p:spPr>
          <a:xfrm>
            <a:off x="12211050" y="4229100"/>
            <a:ext cx="2038350" cy="304800"/>
          </a:xfrm>
          <a:prstGeom prst="rect">
            <a:avLst/>
          </a:prstGeom>
          <a:noFill/>
          <a:ln w="0">
            <a:noFill/>
            <a:prstDash val="solid"/>
          </a:ln>
        </p:spPr>
        <p:txBody>
          <a:bodyPr anchor="t"/>
          <a:lstStyle/>
          <a:p>
            <a:pPr algn="l">
              <a:buNone/>
              <a:defRPr sz="1650" b="1">
                <a:solidFill>
                  <a:srgbClr val="123F36"/>
                </a:solidFill>
              </a:defRPr>
            </a:pPr>
            <a:r>
              <a:rPr sz="1650" b="1">
                <a:solidFill>
                  <a:srgbClr val="123F36"/>
                </a:solidFill>
              </a:rPr>
              <a:t>VERIFY</a:t>
            </a:r>
            <a:endParaRPr sz="1650" b="1">
              <a:solidFill>
                <a:srgbClr val="123F36"/>
              </a:solidFill>
            </a:endParaRPr>
          </a:p>
        </p:txBody>
      </p:sp>
      <p:sp>
        <p:nvSpPr>
          <p:cNvPr id="27" name="flow-body-verify"/>
          <p:cNvSpPr>
            <a:spLocks noGrp="1"/>
          </p:cNvSpPr>
          <p:nvPr/>
        </p:nvSpPr>
        <p:spPr>
          <a:xfrm>
            <a:off x="12211050" y="4629150"/>
            <a:ext cx="2038350" cy="5524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Link each claim to source and uncertainty</a:t>
            </a:r>
            <a:endParaRPr sz="1275" b="0">
              <a:solidFill>
                <a:srgbClr val="596560"/>
              </a:solidFill>
            </a:endParaRPr>
          </a:p>
        </p:txBody>
      </p:sp>
      <p:sp>
        <p:nvSpPr>
          <p:cNvPr id="28" name="flow-export"/>
          <p:cNvSpPr>
            <a:spLocks noGrp="1"/>
          </p:cNvSpPr>
          <p:nvPr/>
        </p:nvSpPr>
        <p:spPr>
          <a:xfrm>
            <a:off x="14782800" y="3667125"/>
            <a:ext cx="2381250" cy="1676400"/>
          </a:xfrm>
          <a:prstGeom prst="roundRect">
            <a:avLst>
              <a:gd name="adj" fmla="val 6818"/>
            </a:avLst>
          </a:prstGeom>
          <a:solidFill>
            <a:srgbClr val="123F36"/>
          </a:solidFill>
          <a:ln w="0">
            <a:solidFill>
              <a:srgbClr val="123F36"/>
            </a:solidFill>
            <a:prstDash val="solid"/>
          </a:ln>
        </p:spPr>
      </p:sp>
      <p:sp>
        <p:nvSpPr>
          <p:cNvPr id="29" name="flow-number-export"/>
          <p:cNvSpPr>
            <a:spLocks noGrp="1"/>
          </p:cNvSpPr>
          <p:nvPr/>
        </p:nvSpPr>
        <p:spPr>
          <a:xfrm>
            <a:off x="14954250" y="3848100"/>
            <a:ext cx="495300" cy="285750"/>
          </a:xfrm>
          <a:prstGeom prst="rect">
            <a:avLst/>
          </a:prstGeom>
          <a:noFill/>
          <a:ln w="0">
            <a:noFill/>
            <a:prstDash val="solid"/>
          </a:ln>
        </p:spPr>
        <p:txBody>
          <a:bodyPr anchor="t"/>
          <a:lstStyle/>
          <a:p>
            <a:pPr algn="l">
              <a:buNone/>
              <a:defRPr sz="1425" b="1">
                <a:solidFill>
                  <a:srgbClr val="FFD75A"/>
                </a:solidFill>
              </a:defRPr>
            </a:pPr>
            <a:r>
              <a:rPr sz="1425" b="1">
                <a:solidFill>
                  <a:srgbClr val="FFD75A"/>
                </a:solidFill>
              </a:rPr>
              <a:t>06</a:t>
            </a:r>
            <a:endParaRPr sz="1425" b="1">
              <a:solidFill>
                <a:srgbClr val="FFD75A"/>
              </a:solidFill>
            </a:endParaRPr>
          </a:p>
        </p:txBody>
      </p:sp>
      <p:sp>
        <p:nvSpPr>
          <p:cNvPr id="30" name="flow-heading-export"/>
          <p:cNvSpPr>
            <a:spLocks noGrp="1"/>
          </p:cNvSpPr>
          <p:nvPr/>
        </p:nvSpPr>
        <p:spPr>
          <a:xfrm>
            <a:off x="14954250" y="4229100"/>
            <a:ext cx="2038350" cy="304800"/>
          </a:xfrm>
          <a:prstGeom prst="rect">
            <a:avLst/>
          </a:prstGeom>
          <a:noFill/>
          <a:ln w="0">
            <a:noFill/>
            <a:prstDash val="solid"/>
          </a:ln>
        </p:spPr>
        <p:txBody>
          <a:bodyPr anchor="t"/>
          <a:lstStyle/>
          <a:p>
            <a:pPr algn="l">
              <a:buNone/>
              <a:defRPr sz="1650" b="1">
                <a:solidFill>
                  <a:srgbClr val="FFFFFF"/>
                </a:solidFill>
              </a:defRPr>
            </a:pPr>
            <a:r>
              <a:rPr sz="1650" b="1">
                <a:solidFill>
                  <a:srgbClr val="FFFFFF"/>
                </a:solidFill>
              </a:rPr>
              <a:t>EXPORT</a:t>
            </a:r>
            <a:endParaRPr sz="1650" b="1">
              <a:solidFill>
                <a:srgbClr val="FFFFFF"/>
              </a:solidFill>
            </a:endParaRPr>
          </a:p>
        </p:txBody>
      </p:sp>
      <p:sp>
        <p:nvSpPr>
          <p:cNvPr id="31" name="flow-body-export"/>
          <p:cNvSpPr>
            <a:spLocks noGrp="1"/>
          </p:cNvSpPr>
          <p:nvPr/>
        </p:nvSpPr>
        <p:spPr>
          <a:xfrm>
            <a:off x="14954250" y="4629150"/>
            <a:ext cx="2038350" cy="552450"/>
          </a:xfrm>
          <a:prstGeom prst="rect">
            <a:avLst/>
          </a:prstGeom>
          <a:noFill/>
          <a:ln w="0">
            <a:noFill/>
            <a:prstDash val="solid"/>
          </a:ln>
        </p:spPr>
        <p:txBody>
          <a:bodyPr anchor="t"/>
          <a:lstStyle/>
          <a:p>
            <a:pPr algn="l">
              <a:buNone/>
              <a:defRPr sz="1275" b="0">
                <a:solidFill>
                  <a:srgbClr val="FFFFFF"/>
                </a:solidFill>
              </a:defRPr>
            </a:pPr>
            <a:r>
              <a:rPr sz="1275" b="0">
                <a:solidFill>
                  <a:srgbClr val="FFFFFF"/>
                </a:solidFill>
              </a:rPr>
              <a:t>Report, evidence map, code/data, trace</a:t>
            </a:r>
            <a:endParaRPr sz="1275" b="0">
              <a:solidFill>
                <a:srgbClr val="FFFFFF"/>
              </a:solidFill>
            </a:endParaRPr>
          </a:p>
        </p:txBody>
      </p:sp>
      <p:cxnSp>
        <p:nvCxnSpPr>
          <p:cNvPr id="325" name="Straight Arrow Connector 88"/>
          <p:cNvCxnSpPr>
            <a:stCxn id="8" idx="3"/>
            <a:endCxn id="12" idx="1"/>
          </p:cNvCxnSpPr>
          <p:nvPr/>
        </p:nvCxnSpPr>
        <p:spPr>
          <a:xfrm>
            <a:off x="3448050" y="4505325"/>
            <a:ext cx="361950" cy="0"/>
          </a:xfrm>
          <a:prstGeom prst="straightConnector1">
            <a:avLst/>
          </a:prstGeom>
          <a:ln w="28575">
            <a:solidFill>
              <a:srgbClr val="397A63"/>
            </a:solidFill>
            <a:prstDash val="solid"/>
            <a:tailEnd type="triangle" w="med" len="med"/>
          </a:ln>
        </p:spPr>
      </p:cxnSp>
      <p:cxnSp>
        <p:nvCxnSpPr>
          <p:cNvPr id="326" name="Straight Arrow Connector 89"/>
          <p:cNvCxnSpPr>
            <a:stCxn id="12" idx="3"/>
            <a:endCxn id="16" idx="1"/>
          </p:cNvCxnSpPr>
          <p:nvPr/>
        </p:nvCxnSpPr>
        <p:spPr>
          <a:xfrm>
            <a:off x="6191250" y="4505325"/>
            <a:ext cx="361950" cy="0"/>
          </a:xfrm>
          <a:prstGeom prst="straightConnector1">
            <a:avLst/>
          </a:prstGeom>
          <a:ln w="28575">
            <a:solidFill>
              <a:srgbClr val="397A63"/>
            </a:solidFill>
            <a:prstDash val="solid"/>
            <a:tailEnd type="triangle" w="med" len="med"/>
          </a:ln>
        </p:spPr>
      </p:cxnSp>
      <p:cxnSp>
        <p:nvCxnSpPr>
          <p:cNvPr id="327" name="Straight Arrow Connector 90"/>
          <p:cNvCxnSpPr>
            <a:stCxn id="16" idx="3"/>
            <a:endCxn id="20" idx="1"/>
          </p:cNvCxnSpPr>
          <p:nvPr/>
        </p:nvCxnSpPr>
        <p:spPr>
          <a:xfrm>
            <a:off x="8934450" y="4505325"/>
            <a:ext cx="361950" cy="0"/>
          </a:xfrm>
          <a:prstGeom prst="straightConnector1">
            <a:avLst/>
          </a:prstGeom>
          <a:ln w="28575">
            <a:solidFill>
              <a:srgbClr val="397A63"/>
            </a:solidFill>
            <a:prstDash val="solid"/>
            <a:tailEnd type="triangle" w="med" len="med"/>
          </a:ln>
        </p:spPr>
      </p:cxnSp>
      <p:cxnSp>
        <p:nvCxnSpPr>
          <p:cNvPr id="328" name="Straight Arrow Connector 91"/>
          <p:cNvCxnSpPr>
            <a:stCxn id="20" idx="3"/>
            <a:endCxn id="24" idx="1"/>
          </p:cNvCxnSpPr>
          <p:nvPr/>
        </p:nvCxnSpPr>
        <p:spPr>
          <a:xfrm>
            <a:off x="11677650" y="4505325"/>
            <a:ext cx="361950" cy="0"/>
          </a:xfrm>
          <a:prstGeom prst="straightConnector1">
            <a:avLst/>
          </a:prstGeom>
          <a:ln w="28575">
            <a:solidFill>
              <a:srgbClr val="397A63"/>
            </a:solidFill>
            <a:prstDash val="solid"/>
            <a:tailEnd type="triangle" w="med" len="med"/>
          </a:ln>
        </p:spPr>
      </p:cxnSp>
      <p:cxnSp>
        <p:nvCxnSpPr>
          <p:cNvPr id="329" name="Straight Arrow Connector 92"/>
          <p:cNvCxnSpPr>
            <a:stCxn id="24" idx="3"/>
            <a:endCxn id="28" idx="1"/>
          </p:cNvCxnSpPr>
          <p:nvPr/>
        </p:nvCxnSpPr>
        <p:spPr>
          <a:xfrm>
            <a:off x="14420850" y="4505325"/>
            <a:ext cx="361950" cy="0"/>
          </a:xfrm>
          <a:prstGeom prst="straightConnector1">
            <a:avLst/>
          </a:prstGeom>
          <a:ln w="28575">
            <a:solidFill>
              <a:srgbClr val="397A63"/>
            </a:solidFill>
            <a:prstDash val="solid"/>
            <a:tailEnd type="triangle" w="med" len="med"/>
          </a:ln>
        </p:spPr>
      </p:cxnSp>
      <p:sp>
        <p:nvSpPr>
          <p:cNvPr id="37" name="governance-band"/>
          <p:cNvSpPr>
            <a:spLocks noGrp="1"/>
          </p:cNvSpPr>
          <p:nvPr/>
        </p:nvSpPr>
        <p:spPr>
          <a:xfrm>
            <a:off x="1066800" y="5943600"/>
            <a:ext cx="16097250" cy="2647950"/>
          </a:xfrm>
          <a:prstGeom prst="roundRect">
            <a:avLst>
              <a:gd name="adj" fmla="val 4317"/>
            </a:avLst>
          </a:prstGeom>
          <a:solidFill>
            <a:srgbClr val="EAF2EE"/>
          </a:solidFill>
          <a:ln w="9525">
            <a:solidFill>
              <a:srgbClr val="CFD9D4"/>
            </a:solidFill>
            <a:prstDash val="solid"/>
          </a:ln>
        </p:spPr>
      </p:sp>
      <p:sp>
        <p:nvSpPr>
          <p:cNvPr id="38" name="governance-label"/>
          <p:cNvSpPr>
            <a:spLocks noGrp="1"/>
          </p:cNvSpPr>
          <p:nvPr/>
        </p:nvSpPr>
        <p:spPr>
          <a:xfrm>
            <a:off x="1352550" y="6153150"/>
            <a:ext cx="4000500" cy="285750"/>
          </a:xfrm>
          <a:prstGeom prst="rect">
            <a:avLst/>
          </a:prstGeom>
          <a:noFill/>
          <a:ln w="0">
            <a:noFill/>
            <a:prstDash val="solid"/>
          </a:ln>
        </p:spPr>
        <p:txBody>
          <a:bodyPr anchor="t"/>
          <a:lstStyle/>
          <a:p>
            <a:pPr algn="l">
              <a:buNone/>
              <a:defRPr sz="1500" b="1">
                <a:solidFill>
                  <a:srgbClr val="123F36"/>
                </a:solidFill>
              </a:defRPr>
            </a:pPr>
            <a:r>
              <a:rPr sz="1500" b="1">
                <a:solidFill>
                  <a:srgbClr val="123F36"/>
                </a:solidFill>
              </a:rPr>
              <a:t>GOVERNED SELF-EVOLUTION</a:t>
            </a:r>
            <a:endParaRPr sz="1500" b="1">
              <a:solidFill>
                <a:srgbClr val="123F36"/>
              </a:solidFill>
            </a:endParaRPr>
          </a:p>
        </p:txBody>
      </p:sp>
      <p:sp>
        <p:nvSpPr>
          <p:cNvPr id="39" name="control-label"/>
          <p:cNvSpPr>
            <a:spLocks noGrp="1"/>
          </p:cNvSpPr>
          <p:nvPr/>
        </p:nvSpPr>
        <p:spPr>
          <a:xfrm>
            <a:off x="11334750" y="6162675"/>
            <a:ext cx="5429250" cy="285750"/>
          </a:xfrm>
          <a:prstGeom prst="rect">
            <a:avLst/>
          </a:prstGeom>
          <a:noFill/>
          <a:ln w="0">
            <a:noFill/>
            <a:prstDash val="solid"/>
          </a:ln>
        </p:spPr>
        <p:txBody>
          <a:bodyPr anchor="t"/>
          <a:lstStyle/>
          <a:p>
            <a:pPr algn="r">
              <a:buNone/>
              <a:defRPr sz="1275" b="1">
                <a:solidFill>
                  <a:srgbClr val="B8473E"/>
                </a:solidFill>
              </a:defRPr>
            </a:pPr>
            <a:r>
              <a:rPr sz="1275" b="1">
                <a:solidFill>
                  <a:srgbClr val="B8473E"/>
                </a:solidFill>
              </a:rPr>
              <a:t>Trusted control is never rewritten by the candidate</a:t>
            </a:r>
            <a:endParaRPr sz="1275" b="1">
              <a:solidFill>
                <a:srgbClr val="B8473E"/>
              </a:solidFill>
            </a:endParaRPr>
          </a:p>
        </p:txBody>
      </p:sp>
      <p:sp>
        <p:nvSpPr>
          <p:cNvPr id="40" name="evo-outcomes"/>
          <p:cNvSpPr>
            <a:spLocks noGrp="1"/>
          </p:cNvSpPr>
          <p:nvPr/>
        </p:nvSpPr>
        <p:spPr>
          <a:xfrm>
            <a:off x="1381125" y="6877050"/>
            <a:ext cx="2714625" cy="1409700"/>
          </a:xfrm>
          <a:prstGeom prst="roundRect">
            <a:avLst>
              <a:gd name="adj" fmla="val 8108"/>
            </a:avLst>
          </a:prstGeom>
          <a:solidFill>
            <a:srgbClr val="FFFFFF"/>
          </a:solidFill>
          <a:ln w="9525">
            <a:solidFill>
              <a:srgbClr val="CFD9D4"/>
            </a:solidFill>
            <a:prstDash val="solid"/>
          </a:ln>
        </p:spPr>
      </p:sp>
      <p:sp>
        <p:nvSpPr>
          <p:cNvPr id="41" name="evo-head-outcomes"/>
          <p:cNvSpPr>
            <a:spLocks noGrp="1"/>
          </p:cNvSpPr>
          <p:nvPr/>
        </p:nvSpPr>
        <p:spPr>
          <a:xfrm>
            <a:off x="1533525" y="7086600"/>
            <a:ext cx="2409825" cy="266700"/>
          </a:xfrm>
          <a:prstGeom prst="rect">
            <a:avLst/>
          </a:prstGeom>
          <a:noFill/>
          <a:ln w="0">
            <a:noFill/>
            <a:prstDash val="solid"/>
          </a:ln>
        </p:spPr>
        <p:txBody>
          <a:bodyPr anchor="t"/>
          <a:lstStyle/>
          <a:p>
            <a:pPr algn="ctr">
              <a:buNone/>
              <a:defRPr sz="1425" b="1">
                <a:solidFill>
                  <a:srgbClr val="17201E"/>
                </a:solidFill>
              </a:defRPr>
            </a:pPr>
            <a:r>
              <a:rPr sz="1425" b="1">
                <a:solidFill>
                  <a:srgbClr val="17201E"/>
                </a:solidFill>
              </a:rPr>
              <a:t>OUTCOME LOG</a:t>
            </a:r>
            <a:endParaRPr sz="1425" b="1">
              <a:solidFill>
                <a:srgbClr val="17201E"/>
              </a:solidFill>
            </a:endParaRPr>
          </a:p>
        </p:txBody>
      </p:sp>
      <p:sp>
        <p:nvSpPr>
          <p:cNvPr id="42" name="evo-body-outcomes"/>
          <p:cNvSpPr>
            <a:spLocks noGrp="1"/>
          </p:cNvSpPr>
          <p:nvPr/>
        </p:nvSpPr>
        <p:spPr>
          <a:xfrm>
            <a:off x="1533525" y="7458075"/>
            <a:ext cx="2409825" cy="55245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Record success, cost, failures</a:t>
            </a:r>
            <a:endParaRPr sz="1200" b="0">
              <a:solidFill>
                <a:srgbClr val="596560"/>
              </a:solidFill>
            </a:endParaRPr>
          </a:p>
        </p:txBody>
      </p:sp>
      <p:sp>
        <p:nvSpPr>
          <p:cNvPr id="43" name="evo-candidate"/>
          <p:cNvSpPr>
            <a:spLocks noGrp="1"/>
          </p:cNvSpPr>
          <p:nvPr/>
        </p:nvSpPr>
        <p:spPr>
          <a:xfrm>
            <a:off x="4591050" y="6877050"/>
            <a:ext cx="2714625" cy="1409700"/>
          </a:xfrm>
          <a:prstGeom prst="roundRect">
            <a:avLst>
              <a:gd name="adj" fmla="val 8108"/>
            </a:avLst>
          </a:prstGeom>
          <a:solidFill>
            <a:srgbClr val="FFFFFF"/>
          </a:solidFill>
          <a:ln w="9525">
            <a:solidFill>
              <a:srgbClr val="CFD9D4"/>
            </a:solidFill>
            <a:prstDash val="solid"/>
          </a:ln>
        </p:spPr>
      </p:sp>
      <p:sp>
        <p:nvSpPr>
          <p:cNvPr id="44" name="evo-head-candidate"/>
          <p:cNvSpPr>
            <a:spLocks noGrp="1"/>
          </p:cNvSpPr>
          <p:nvPr/>
        </p:nvSpPr>
        <p:spPr>
          <a:xfrm>
            <a:off x="4743450" y="7086600"/>
            <a:ext cx="2409825" cy="266700"/>
          </a:xfrm>
          <a:prstGeom prst="rect">
            <a:avLst/>
          </a:prstGeom>
          <a:noFill/>
          <a:ln w="0">
            <a:noFill/>
            <a:prstDash val="solid"/>
          </a:ln>
        </p:spPr>
        <p:txBody>
          <a:bodyPr anchor="t"/>
          <a:lstStyle/>
          <a:p>
            <a:pPr algn="ctr">
              <a:buNone/>
              <a:defRPr sz="1425" b="1">
                <a:solidFill>
                  <a:srgbClr val="17201E"/>
                </a:solidFill>
              </a:defRPr>
            </a:pPr>
            <a:r>
              <a:rPr sz="1425" b="1">
                <a:solidFill>
                  <a:srgbClr val="17201E"/>
                </a:solidFill>
              </a:rPr>
              <a:t>CANDIDATE V2</a:t>
            </a:r>
            <a:endParaRPr sz="1425" b="1">
              <a:solidFill>
                <a:srgbClr val="17201E"/>
              </a:solidFill>
            </a:endParaRPr>
          </a:p>
        </p:txBody>
      </p:sp>
      <p:sp>
        <p:nvSpPr>
          <p:cNvPr id="45" name="evo-body-candidate"/>
          <p:cNvSpPr>
            <a:spLocks noGrp="1"/>
          </p:cNvSpPr>
          <p:nvPr/>
        </p:nvSpPr>
        <p:spPr>
          <a:xfrm>
            <a:off x="4743450" y="7458075"/>
            <a:ext cx="2409825" cy="55245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Versioned strategy proposal</a:t>
            </a:r>
            <a:endParaRPr sz="1200" b="0">
              <a:solidFill>
                <a:srgbClr val="596560"/>
              </a:solidFill>
            </a:endParaRPr>
          </a:p>
        </p:txBody>
      </p:sp>
      <p:sp>
        <p:nvSpPr>
          <p:cNvPr id="46" name="evo-heldout"/>
          <p:cNvSpPr>
            <a:spLocks noGrp="1"/>
          </p:cNvSpPr>
          <p:nvPr/>
        </p:nvSpPr>
        <p:spPr>
          <a:xfrm>
            <a:off x="7800975" y="6877050"/>
            <a:ext cx="2714625" cy="1409700"/>
          </a:xfrm>
          <a:prstGeom prst="roundRect">
            <a:avLst>
              <a:gd name="adj" fmla="val 8108"/>
            </a:avLst>
          </a:prstGeom>
          <a:solidFill>
            <a:srgbClr val="FFFFFF"/>
          </a:solidFill>
          <a:ln w="9525">
            <a:solidFill>
              <a:srgbClr val="CFD9D4"/>
            </a:solidFill>
            <a:prstDash val="solid"/>
          </a:ln>
        </p:spPr>
      </p:sp>
      <p:sp>
        <p:nvSpPr>
          <p:cNvPr id="47" name="evo-head-heldout"/>
          <p:cNvSpPr>
            <a:spLocks noGrp="1"/>
          </p:cNvSpPr>
          <p:nvPr/>
        </p:nvSpPr>
        <p:spPr>
          <a:xfrm>
            <a:off x="7953375" y="7086600"/>
            <a:ext cx="2409825" cy="266700"/>
          </a:xfrm>
          <a:prstGeom prst="rect">
            <a:avLst/>
          </a:prstGeom>
          <a:noFill/>
          <a:ln w="0">
            <a:noFill/>
            <a:prstDash val="solid"/>
          </a:ln>
        </p:spPr>
        <p:txBody>
          <a:bodyPr anchor="t"/>
          <a:lstStyle/>
          <a:p>
            <a:pPr algn="ctr">
              <a:buNone/>
              <a:defRPr sz="1425" b="1">
                <a:solidFill>
                  <a:srgbClr val="17201E"/>
                </a:solidFill>
              </a:defRPr>
            </a:pPr>
            <a:r>
              <a:rPr sz="1425" b="1">
                <a:solidFill>
                  <a:srgbClr val="17201E"/>
                </a:solidFill>
              </a:rPr>
              <a:t>HELD-OUT A/B</a:t>
            </a:r>
            <a:endParaRPr sz="1425" b="1">
              <a:solidFill>
                <a:srgbClr val="17201E"/>
              </a:solidFill>
            </a:endParaRPr>
          </a:p>
        </p:txBody>
      </p:sp>
      <p:sp>
        <p:nvSpPr>
          <p:cNvPr id="48" name="evo-body-heldout"/>
          <p:cNvSpPr>
            <a:spLocks noGrp="1"/>
          </p:cNvSpPr>
          <p:nvPr/>
        </p:nvSpPr>
        <p:spPr>
          <a:xfrm>
            <a:off x="7953375" y="7458075"/>
            <a:ext cx="2409825" cy="55245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Baseline 0.556 → candidate 1.000</a:t>
            </a:r>
            <a:endParaRPr sz="1200" b="0">
              <a:solidFill>
                <a:srgbClr val="596560"/>
              </a:solidFill>
            </a:endParaRPr>
          </a:p>
        </p:txBody>
      </p:sp>
      <p:sp>
        <p:nvSpPr>
          <p:cNvPr id="49" name="evo-approval"/>
          <p:cNvSpPr>
            <a:spLocks noGrp="1"/>
          </p:cNvSpPr>
          <p:nvPr/>
        </p:nvSpPr>
        <p:spPr>
          <a:xfrm>
            <a:off x="11010900" y="6877050"/>
            <a:ext cx="2714625" cy="1409700"/>
          </a:xfrm>
          <a:prstGeom prst="roundRect">
            <a:avLst>
              <a:gd name="adj" fmla="val 8108"/>
            </a:avLst>
          </a:prstGeom>
          <a:solidFill>
            <a:srgbClr val="FFD75A"/>
          </a:solidFill>
          <a:ln w="9525">
            <a:solidFill>
              <a:srgbClr val="CFD9D4"/>
            </a:solidFill>
            <a:prstDash val="solid"/>
          </a:ln>
        </p:spPr>
      </p:sp>
      <p:sp>
        <p:nvSpPr>
          <p:cNvPr id="50" name="evo-head-approval"/>
          <p:cNvSpPr>
            <a:spLocks noGrp="1"/>
          </p:cNvSpPr>
          <p:nvPr/>
        </p:nvSpPr>
        <p:spPr>
          <a:xfrm>
            <a:off x="11163300" y="7086600"/>
            <a:ext cx="2409825" cy="266700"/>
          </a:xfrm>
          <a:prstGeom prst="rect">
            <a:avLst/>
          </a:prstGeom>
          <a:noFill/>
          <a:ln w="0">
            <a:noFill/>
            <a:prstDash val="solid"/>
          </a:ln>
        </p:spPr>
        <p:txBody>
          <a:bodyPr anchor="t"/>
          <a:lstStyle/>
          <a:p>
            <a:pPr algn="ctr">
              <a:buNone/>
              <a:defRPr sz="1425" b="1">
                <a:solidFill>
                  <a:srgbClr val="0A2D27"/>
                </a:solidFill>
              </a:defRPr>
            </a:pPr>
            <a:r>
              <a:rPr sz="1425" b="1">
                <a:solidFill>
                  <a:srgbClr val="0A2D27"/>
                </a:solidFill>
              </a:rPr>
              <a:t>HUMAN GATE</a:t>
            </a:r>
            <a:endParaRPr sz="1425" b="1">
              <a:solidFill>
                <a:srgbClr val="0A2D27"/>
              </a:solidFill>
            </a:endParaRPr>
          </a:p>
        </p:txBody>
      </p:sp>
      <p:sp>
        <p:nvSpPr>
          <p:cNvPr id="51" name="evo-body-approval"/>
          <p:cNvSpPr>
            <a:spLocks noGrp="1"/>
          </p:cNvSpPr>
          <p:nvPr/>
        </p:nvSpPr>
        <p:spPr>
          <a:xfrm>
            <a:off x="11163300" y="7458075"/>
            <a:ext cx="2409825" cy="55245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Approve only with no safety regression</a:t>
            </a:r>
            <a:endParaRPr sz="1200" b="0">
              <a:solidFill>
                <a:srgbClr val="596560"/>
              </a:solidFill>
            </a:endParaRPr>
          </a:p>
        </p:txBody>
      </p:sp>
      <p:sp>
        <p:nvSpPr>
          <p:cNvPr id="52" name="evo-rollback"/>
          <p:cNvSpPr>
            <a:spLocks noGrp="1"/>
          </p:cNvSpPr>
          <p:nvPr/>
        </p:nvSpPr>
        <p:spPr>
          <a:xfrm>
            <a:off x="14220825" y="6877050"/>
            <a:ext cx="2714625" cy="1409700"/>
          </a:xfrm>
          <a:prstGeom prst="roundRect">
            <a:avLst>
              <a:gd name="adj" fmla="val 8108"/>
            </a:avLst>
          </a:prstGeom>
          <a:solidFill>
            <a:srgbClr val="FFFFFF"/>
          </a:solidFill>
          <a:ln w="9525">
            <a:solidFill>
              <a:srgbClr val="CFD9D4"/>
            </a:solidFill>
            <a:prstDash val="solid"/>
          </a:ln>
        </p:spPr>
      </p:sp>
      <p:sp>
        <p:nvSpPr>
          <p:cNvPr id="53" name="evo-head-rollback"/>
          <p:cNvSpPr>
            <a:spLocks noGrp="1"/>
          </p:cNvSpPr>
          <p:nvPr/>
        </p:nvSpPr>
        <p:spPr>
          <a:xfrm>
            <a:off x="14373225" y="7086600"/>
            <a:ext cx="2409825" cy="266700"/>
          </a:xfrm>
          <a:prstGeom prst="rect">
            <a:avLst/>
          </a:prstGeom>
          <a:noFill/>
          <a:ln w="0">
            <a:noFill/>
            <a:prstDash val="solid"/>
          </a:ln>
        </p:spPr>
        <p:txBody>
          <a:bodyPr anchor="t"/>
          <a:lstStyle/>
          <a:p>
            <a:pPr algn="ctr">
              <a:buNone/>
              <a:defRPr sz="1425" b="1">
                <a:solidFill>
                  <a:srgbClr val="17201E"/>
                </a:solidFill>
              </a:defRPr>
            </a:pPr>
            <a:r>
              <a:rPr sz="1425" b="1">
                <a:solidFill>
                  <a:srgbClr val="17201E"/>
                </a:solidFill>
              </a:rPr>
              <a:t>ACTIVATE / ROLLBACK</a:t>
            </a:r>
            <a:endParaRPr sz="1425" b="1">
              <a:solidFill>
                <a:srgbClr val="17201E"/>
              </a:solidFill>
            </a:endParaRPr>
          </a:p>
        </p:txBody>
      </p:sp>
      <p:sp>
        <p:nvSpPr>
          <p:cNvPr id="54" name="evo-body-rollback"/>
          <p:cNvSpPr>
            <a:spLocks noGrp="1"/>
          </p:cNvSpPr>
          <p:nvPr/>
        </p:nvSpPr>
        <p:spPr>
          <a:xfrm>
            <a:off x="14373225" y="7458075"/>
            <a:ext cx="2409825" cy="55245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Promote version or restore baseline</a:t>
            </a:r>
            <a:endParaRPr sz="1200" b="0">
              <a:solidFill>
                <a:srgbClr val="596560"/>
              </a:solidFill>
            </a:endParaRPr>
          </a:p>
        </p:txBody>
      </p:sp>
      <p:cxnSp>
        <p:nvCxnSpPr>
          <p:cNvPr id="348" name="Straight Arrow Connector 111"/>
          <p:cNvCxnSpPr>
            <a:stCxn id="40" idx="3"/>
            <a:endCxn id="43" idx="1"/>
          </p:cNvCxnSpPr>
          <p:nvPr/>
        </p:nvCxnSpPr>
        <p:spPr>
          <a:xfrm>
            <a:off x="4095750" y="7581900"/>
            <a:ext cx="495300" cy="0"/>
          </a:xfrm>
          <a:prstGeom prst="straightConnector1">
            <a:avLst/>
          </a:prstGeom>
          <a:ln w="22860">
            <a:solidFill>
              <a:srgbClr val="397A63"/>
            </a:solidFill>
            <a:prstDash val="solid"/>
            <a:tailEnd type="triangle" w="sm" len="sm"/>
          </a:ln>
        </p:spPr>
      </p:cxnSp>
      <p:cxnSp>
        <p:nvCxnSpPr>
          <p:cNvPr id="349" name="Straight Arrow Connector 112"/>
          <p:cNvCxnSpPr>
            <a:stCxn id="43" idx="3"/>
            <a:endCxn id="46" idx="1"/>
          </p:cNvCxnSpPr>
          <p:nvPr/>
        </p:nvCxnSpPr>
        <p:spPr>
          <a:xfrm>
            <a:off x="7305675" y="7581900"/>
            <a:ext cx="495300" cy="0"/>
          </a:xfrm>
          <a:prstGeom prst="straightConnector1">
            <a:avLst/>
          </a:prstGeom>
          <a:ln w="22860">
            <a:solidFill>
              <a:srgbClr val="397A63"/>
            </a:solidFill>
            <a:prstDash val="solid"/>
            <a:tailEnd type="triangle" w="sm" len="sm"/>
          </a:ln>
        </p:spPr>
      </p:cxnSp>
      <p:cxnSp>
        <p:nvCxnSpPr>
          <p:cNvPr id="350" name="Straight Arrow Connector 113"/>
          <p:cNvCxnSpPr>
            <a:stCxn id="46" idx="3"/>
            <a:endCxn id="49" idx="1"/>
          </p:cNvCxnSpPr>
          <p:nvPr/>
        </p:nvCxnSpPr>
        <p:spPr>
          <a:xfrm>
            <a:off x="10515600" y="7581900"/>
            <a:ext cx="495300" cy="0"/>
          </a:xfrm>
          <a:prstGeom prst="straightConnector1">
            <a:avLst/>
          </a:prstGeom>
          <a:ln w="22860">
            <a:solidFill>
              <a:srgbClr val="397A63"/>
            </a:solidFill>
            <a:prstDash val="solid"/>
            <a:tailEnd type="triangle" w="sm" len="sm"/>
          </a:ln>
        </p:spPr>
      </p:cxnSp>
      <p:cxnSp>
        <p:nvCxnSpPr>
          <p:cNvPr id="351" name="Straight Arrow Connector 114"/>
          <p:cNvCxnSpPr>
            <a:stCxn id="49" idx="3"/>
            <a:endCxn id="52" idx="1"/>
          </p:cNvCxnSpPr>
          <p:nvPr/>
        </p:nvCxnSpPr>
        <p:spPr>
          <a:xfrm>
            <a:off x="13725525" y="7581900"/>
            <a:ext cx="495300" cy="0"/>
          </a:xfrm>
          <a:prstGeom prst="straightConnector1">
            <a:avLst/>
          </a:prstGeom>
          <a:ln w="22860">
            <a:solidFill>
              <a:srgbClr val="397A63"/>
            </a:solidFill>
            <a:prstDash val="solid"/>
            <a:tailEnd type="triangl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ph type="title"/>
          </p:nvPr>
        </p:nvSpPr>
        <p:spPr>
          <a:xfrm>
            <a:off x="702469" y="1665065"/>
            <a:ext cx="12585097" cy="1141762"/>
          </a:xfrm>
          <a:prstGeom prst="rect">
            <a:avLst/>
          </a:prstGeom>
        </p:spPr>
        <p:txBody>
          <a:bodyPr vert="horz" wrap="square" lIns="0" tIns="90220" rIns="0" bIns="0" anchor="ctr">
            <a:spAutoFit/>
          </a:bodyPr>
          <a:lstStyle/>
          <a:p>
            <a:pPr marL="12700">
              <a:lnSpc>
                <a:spcPct val="100000"/>
              </a:lnSpc>
              <a:spcBef>
                <a:spcPts val="120"/>
              </a:spcBef>
              <a:buNone/>
              <a:defRPr sz="3150" b="1">
                <a:solidFill>
                  <a:srgbClr val="17201E"/>
                </a:solidFill>
              </a:defRPr>
            </a:pPr>
            <a:r>
              <a:rPr sz="3150" b="1">
                <a:solidFill>
                  <a:srgbClr val="17201E"/>
                </a:solidFill>
              </a:rPr>
              <a:t>The working interface makes safety and proof visible</a:t>
            </a:r>
            <a:endParaRPr spc="-10"/>
          </a:p>
        </p:txBody>
      </p:sp>
      <p:pic>
        <p:nvPicPr>
          <p:cNvPr id="37" name="object 3"/>
          <p:cNvPicPr>
            <a:picLocks noChangeAspect="1"/>
          </p:cNvPicPr>
          <p:nvPr/>
        </p:nvPicPr>
        <p:blipFill>
          <a:blip r:embed="rId1"/>
          <a:stretch>
            <a:fillRect/>
          </a:stretch>
        </p:blipFill>
        <p:spPr>
          <a:xfrm>
            <a:off x="13901315" y="556089"/>
            <a:ext cx="3695971" cy="986861"/>
          </a:xfrm>
          <a:prstGeom prst="rect">
            <a:avLst/>
          </a:prstGeom>
        </p:spPr>
      </p:pic>
      <p:pic>
        <p:nvPicPr>
          <p:cNvPr id="38" name="object 4"/>
          <p:cNvPicPr>
            <a:picLocks noChangeAspect="1"/>
          </p:cNvPicPr>
          <p:nvPr/>
        </p:nvPicPr>
        <p:blipFill>
          <a:blip r:embed="rId2"/>
          <a:stretch>
            <a:fillRect/>
          </a:stretch>
        </p:blipFill>
        <p:spPr>
          <a:xfrm>
            <a:off x="0" y="10012680"/>
            <a:ext cx="18287999" cy="274317"/>
          </a:xfrm>
          <a:prstGeom prst="rect">
            <a:avLst/>
          </a:prstGeom>
        </p:spPr>
      </p:pic>
      <p:sp>
        <p:nvSpPr>
          <p:cNvPr id="5" name="badge-WORKING MVP"/>
          <p:cNvSpPr>
            <a:spLocks noGrp="1"/>
          </p:cNvSpPr>
          <p:nvPr/>
        </p:nvSpPr>
        <p:spPr>
          <a:xfrm>
            <a:off x="14144625" y="1771650"/>
            <a:ext cx="3143250" cy="533400"/>
          </a:xfrm>
          <a:prstGeom prst="roundRect">
            <a:avLst>
              <a:gd name="adj" fmla="val 21429"/>
            </a:avLst>
          </a:prstGeom>
          <a:solidFill>
            <a:srgbClr val="FFD75A"/>
          </a:solidFill>
          <a:ln w="9525">
            <a:solidFill>
              <a:srgbClr val="F2B600"/>
            </a:solidFill>
            <a:prstDash val="solid"/>
          </a:ln>
        </p:spPr>
      </p:sp>
      <p:sp>
        <p:nvSpPr>
          <p:cNvPr id="6" name="badge-text-WORKING MVP"/>
          <p:cNvSpPr>
            <a:spLocks noGrp="1"/>
          </p:cNvSpPr>
          <p:nvPr/>
        </p:nvSpPr>
        <p:spPr>
          <a:xfrm>
            <a:off x="14306550" y="1895475"/>
            <a:ext cx="2819400" cy="266700"/>
          </a:xfrm>
          <a:prstGeom prst="rect">
            <a:avLst/>
          </a:prstGeom>
          <a:noFill/>
          <a:ln w="0">
            <a:noFill/>
            <a:prstDash val="solid"/>
          </a:ln>
        </p:spPr>
        <p:txBody>
          <a:bodyPr anchor="ctr"/>
          <a:lstStyle/>
          <a:p>
            <a:pPr algn="ctr">
              <a:buNone/>
              <a:defRPr sz="1350" b="1">
                <a:solidFill>
                  <a:srgbClr val="0A2D27"/>
                </a:solidFill>
              </a:defRPr>
            </a:pPr>
            <a:r>
              <a:rPr sz="1350" b="1">
                <a:solidFill>
                  <a:srgbClr val="0A2D27"/>
                </a:solidFill>
              </a:rPr>
              <a:t>WORKING MVP</a:t>
            </a:r>
            <a:endParaRPr sz="1350" b="1">
              <a:solidFill>
                <a:srgbClr val="0A2D27"/>
              </a:solidFill>
            </a:endParaRPr>
          </a:p>
        </p:txBody>
      </p:sp>
      <p:sp>
        <p:nvSpPr>
          <p:cNvPr id="7" name="s6-subtitle"/>
          <p:cNvSpPr>
            <a:spLocks noGrp="1"/>
          </p:cNvSpPr>
          <p:nvPr/>
        </p:nvSpPr>
        <p:spPr>
          <a:xfrm>
            <a:off x="914400" y="2790825"/>
            <a:ext cx="13144500" cy="361950"/>
          </a:xfrm>
          <a:prstGeom prst="rect">
            <a:avLst/>
          </a:prstGeom>
          <a:noFill/>
          <a:ln w="0">
            <a:noFill/>
            <a:prstDash val="solid"/>
          </a:ln>
        </p:spPr>
        <p:txBody>
          <a:bodyPr anchor="t"/>
          <a:lstStyle/>
          <a:p>
            <a:pPr algn="l">
              <a:buNone/>
              <a:defRPr sz="1650" b="0">
                <a:solidFill>
                  <a:srgbClr val="596560"/>
                </a:solidFill>
              </a:defRPr>
            </a:pPr>
            <a:r>
              <a:rPr sz="1650" b="0">
                <a:solidFill>
                  <a:srgbClr val="596560"/>
                </a:solidFill>
              </a:rPr>
              <a:t>The judge sees what was captured, what was blocked, and what supports the answer.</a:t>
            </a:r>
            <a:endParaRPr sz="1650" b="0">
              <a:solidFill>
                <a:srgbClr val="596560"/>
              </a:solidFill>
            </a:endParaRPr>
          </a:p>
        </p:txBody>
      </p:sp>
      <p:sp>
        <p:nvSpPr>
          <p:cNvPr id="8" name="ui-card-1"/>
          <p:cNvSpPr>
            <a:spLocks noGrp="1"/>
          </p:cNvSpPr>
          <p:nvPr/>
        </p:nvSpPr>
        <p:spPr>
          <a:xfrm>
            <a:off x="1066800" y="3371850"/>
            <a:ext cx="4953000" cy="4533900"/>
          </a:xfrm>
          <a:prstGeom prst="roundRect">
            <a:avLst>
              <a:gd name="adj" fmla="val 2521"/>
            </a:avLst>
          </a:prstGeom>
          <a:solidFill>
            <a:srgbClr val="F5F7F6"/>
          </a:solidFill>
          <a:ln w="11430">
            <a:solidFill>
              <a:srgbClr val="CFD9D4"/>
            </a:solidFill>
            <a:prstDash val="solid"/>
          </a:ln>
        </p:spPr>
      </p:sp>
      <p:pic>
        <p:nvPicPr>
          <p:cNvPr id="43" name="Picture 37"/>
          <p:cNvPicPr>
            <a:picLocks noChangeAspect="1"/>
          </p:cNvPicPr>
          <p:nvPr/>
        </p:nvPicPr>
        <p:blipFill>
          <a:blip r:embed="rId3"/>
          <a:stretch>
            <a:fillRect/>
          </a:stretch>
        </p:blipFill>
        <p:spPr>
          <a:xfrm>
            <a:off x="1309449" y="3962400"/>
            <a:ext cx="4467701" cy="3028950"/>
          </a:xfrm>
          <a:prstGeom prst="roundRect">
            <a:avLst>
              <a:gd name="adj" fmla="val 2516"/>
            </a:avLst>
          </a:prstGeom>
        </p:spPr>
      </p:pic>
      <p:sp>
        <p:nvSpPr>
          <p:cNvPr id="10" name="ui-title-1"/>
          <p:cNvSpPr>
            <a:spLocks noGrp="1"/>
          </p:cNvSpPr>
          <p:nvPr/>
        </p:nvSpPr>
        <p:spPr>
          <a:xfrm>
            <a:off x="1333500" y="7124700"/>
            <a:ext cx="4419600" cy="285750"/>
          </a:xfrm>
          <a:prstGeom prst="rect">
            <a:avLst/>
          </a:prstGeom>
          <a:noFill/>
          <a:ln w="0">
            <a:noFill/>
            <a:prstDash val="solid"/>
          </a:ln>
        </p:spPr>
        <p:txBody>
          <a:bodyPr anchor="t"/>
          <a:lstStyle/>
          <a:p>
            <a:pPr algn="l">
              <a:buNone/>
              <a:defRPr sz="1575" b="1">
                <a:solidFill>
                  <a:srgbClr val="123F36"/>
                </a:solidFill>
              </a:defRPr>
            </a:pPr>
            <a:r>
              <a:rPr sz="1575" b="1">
                <a:solidFill>
                  <a:srgbClr val="123F36"/>
                </a:solidFill>
              </a:rPr>
              <a:t>1  CAPTURE CONTEXT</a:t>
            </a:r>
            <a:endParaRPr sz="1575" b="1">
              <a:solidFill>
                <a:srgbClr val="123F36"/>
              </a:solidFill>
            </a:endParaRPr>
          </a:p>
        </p:txBody>
      </p:sp>
      <p:sp>
        <p:nvSpPr>
          <p:cNvPr id="11" name="ui-desc-1"/>
          <p:cNvSpPr>
            <a:spLocks noGrp="1"/>
          </p:cNvSpPr>
          <p:nvPr/>
        </p:nvSpPr>
        <p:spPr>
          <a:xfrm>
            <a:off x="1333500" y="7505700"/>
            <a:ext cx="4419600" cy="3238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Question + live page + source policy</a:t>
            </a:r>
            <a:endParaRPr sz="1275" b="0">
              <a:solidFill>
                <a:srgbClr val="596560"/>
              </a:solidFill>
            </a:endParaRPr>
          </a:p>
        </p:txBody>
      </p:sp>
      <p:sp>
        <p:nvSpPr>
          <p:cNvPr id="12" name="ui-card-2"/>
          <p:cNvSpPr>
            <a:spLocks noGrp="1"/>
          </p:cNvSpPr>
          <p:nvPr/>
        </p:nvSpPr>
        <p:spPr>
          <a:xfrm>
            <a:off x="6667500" y="3371850"/>
            <a:ext cx="4953000" cy="4533900"/>
          </a:xfrm>
          <a:prstGeom prst="roundRect">
            <a:avLst>
              <a:gd name="adj" fmla="val 2521"/>
            </a:avLst>
          </a:prstGeom>
          <a:solidFill>
            <a:srgbClr val="F5F7F6"/>
          </a:solidFill>
          <a:ln w="11430">
            <a:solidFill>
              <a:srgbClr val="CFD9D4"/>
            </a:solidFill>
            <a:prstDash val="solid"/>
          </a:ln>
        </p:spPr>
      </p:sp>
      <p:pic>
        <p:nvPicPr>
          <p:cNvPr id="47" name="Picture 41"/>
          <p:cNvPicPr>
            <a:picLocks noChangeAspect="1"/>
          </p:cNvPicPr>
          <p:nvPr/>
        </p:nvPicPr>
        <p:blipFill>
          <a:blip r:embed="rId4"/>
          <a:stretch>
            <a:fillRect/>
          </a:stretch>
        </p:blipFill>
        <p:spPr>
          <a:xfrm>
            <a:off x="8096250" y="3874434"/>
            <a:ext cx="2095500" cy="3204882"/>
          </a:xfrm>
          <a:prstGeom prst="roundRect">
            <a:avLst>
              <a:gd name="adj" fmla="val 3636"/>
            </a:avLst>
          </a:prstGeom>
        </p:spPr>
      </p:pic>
      <p:sp>
        <p:nvSpPr>
          <p:cNvPr id="14" name="ui-title-2"/>
          <p:cNvSpPr>
            <a:spLocks noGrp="1"/>
          </p:cNvSpPr>
          <p:nvPr/>
        </p:nvSpPr>
        <p:spPr>
          <a:xfrm>
            <a:off x="6934200" y="7124700"/>
            <a:ext cx="4419600" cy="285750"/>
          </a:xfrm>
          <a:prstGeom prst="rect">
            <a:avLst/>
          </a:prstGeom>
          <a:noFill/>
          <a:ln w="0">
            <a:noFill/>
            <a:prstDash val="solid"/>
          </a:ln>
        </p:spPr>
        <p:txBody>
          <a:bodyPr anchor="t"/>
          <a:lstStyle/>
          <a:p>
            <a:pPr algn="l">
              <a:buNone/>
              <a:defRPr sz="1575" b="1">
                <a:solidFill>
                  <a:srgbClr val="123F36"/>
                </a:solidFill>
              </a:defRPr>
            </a:pPr>
            <a:r>
              <a:rPr sz="1575" b="1">
                <a:solidFill>
                  <a:srgbClr val="123F36"/>
                </a:solidFill>
              </a:rPr>
              <a:t>2  QUARANTINE ATTACK</a:t>
            </a:r>
            <a:endParaRPr sz="1575" b="1">
              <a:solidFill>
                <a:srgbClr val="123F36"/>
              </a:solidFill>
            </a:endParaRPr>
          </a:p>
        </p:txBody>
      </p:sp>
      <p:sp>
        <p:nvSpPr>
          <p:cNvPr id="15" name="ui-desc-2"/>
          <p:cNvSpPr>
            <a:spLocks noGrp="1"/>
          </p:cNvSpPr>
          <p:nvPr/>
        </p:nvSpPr>
        <p:spPr>
          <a:xfrm>
            <a:off x="6934200" y="7505700"/>
            <a:ext cx="4419600" cy="3238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Malicious span removed; useful evidence retained</a:t>
            </a:r>
            <a:endParaRPr sz="1275" b="0">
              <a:solidFill>
                <a:srgbClr val="596560"/>
              </a:solidFill>
            </a:endParaRPr>
          </a:p>
        </p:txBody>
      </p:sp>
      <p:sp>
        <p:nvSpPr>
          <p:cNvPr id="16" name="ui-card-3"/>
          <p:cNvSpPr>
            <a:spLocks noGrp="1"/>
          </p:cNvSpPr>
          <p:nvPr/>
        </p:nvSpPr>
        <p:spPr>
          <a:xfrm>
            <a:off x="12268200" y="3371850"/>
            <a:ext cx="4953000" cy="4533900"/>
          </a:xfrm>
          <a:prstGeom prst="roundRect">
            <a:avLst>
              <a:gd name="adj" fmla="val 2521"/>
            </a:avLst>
          </a:prstGeom>
          <a:solidFill>
            <a:srgbClr val="F5F7F6"/>
          </a:solidFill>
          <a:ln w="11430">
            <a:solidFill>
              <a:srgbClr val="CFD9D4"/>
            </a:solidFill>
            <a:prstDash val="solid"/>
          </a:ln>
        </p:spPr>
      </p:sp>
      <p:pic>
        <p:nvPicPr>
          <p:cNvPr id="51" name="Picture 45"/>
          <p:cNvPicPr>
            <a:picLocks noChangeAspect="1"/>
          </p:cNvPicPr>
          <p:nvPr/>
        </p:nvPicPr>
        <p:blipFill>
          <a:blip r:embed="rId5"/>
          <a:stretch>
            <a:fillRect/>
          </a:stretch>
        </p:blipFill>
        <p:spPr>
          <a:xfrm>
            <a:off x="13891430" y="3562350"/>
            <a:ext cx="1706540" cy="3829050"/>
          </a:xfrm>
          <a:prstGeom prst="roundRect">
            <a:avLst>
              <a:gd name="adj" fmla="val 4444"/>
            </a:avLst>
          </a:prstGeom>
        </p:spPr>
      </p:pic>
      <p:sp>
        <p:nvSpPr>
          <p:cNvPr id="18" name="ui-title-3"/>
          <p:cNvSpPr>
            <a:spLocks noGrp="1"/>
          </p:cNvSpPr>
          <p:nvPr/>
        </p:nvSpPr>
        <p:spPr>
          <a:xfrm>
            <a:off x="12534900" y="7124700"/>
            <a:ext cx="4419600" cy="285750"/>
          </a:xfrm>
          <a:prstGeom prst="rect">
            <a:avLst/>
          </a:prstGeom>
          <a:noFill/>
          <a:ln w="0">
            <a:noFill/>
            <a:prstDash val="solid"/>
          </a:ln>
        </p:spPr>
        <p:txBody>
          <a:bodyPr anchor="t"/>
          <a:lstStyle/>
          <a:p>
            <a:pPr algn="l">
              <a:buNone/>
              <a:defRPr sz="1575" b="1">
                <a:solidFill>
                  <a:srgbClr val="123F36"/>
                </a:solidFill>
              </a:defRPr>
            </a:pPr>
            <a:r>
              <a:rPr sz="1575" b="1">
                <a:solidFill>
                  <a:srgbClr val="123F36"/>
                </a:solidFill>
              </a:rPr>
              <a:t>3  SHOW THE PROOF</a:t>
            </a:r>
            <a:endParaRPr sz="1575" b="1">
              <a:solidFill>
                <a:srgbClr val="123F36"/>
              </a:solidFill>
            </a:endParaRPr>
          </a:p>
        </p:txBody>
      </p:sp>
      <p:sp>
        <p:nvSpPr>
          <p:cNvPr id="19" name="ui-desc-3"/>
          <p:cNvSpPr>
            <a:spLocks noGrp="1"/>
          </p:cNvSpPr>
          <p:nvPr/>
        </p:nvSpPr>
        <p:spPr>
          <a:xfrm>
            <a:off x="12534900" y="7505700"/>
            <a:ext cx="4419600" cy="323850"/>
          </a:xfrm>
          <a:prstGeom prst="rect">
            <a:avLst/>
          </a:prstGeom>
          <a:noFill/>
          <a:ln w="0">
            <a:noFill/>
            <a:prstDash val="solid"/>
          </a:ln>
        </p:spPr>
        <p:txBody>
          <a:bodyPr anchor="t"/>
          <a:lstStyle/>
          <a:p>
            <a:pPr algn="l">
              <a:buNone/>
              <a:defRPr sz="1275" b="0">
                <a:solidFill>
                  <a:srgbClr val="596560"/>
                </a:solidFill>
              </a:defRPr>
            </a:pPr>
            <a:r>
              <a:rPr sz="1275" b="0">
                <a:solidFill>
                  <a:srgbClr val="596560"/>
                </a:solidFill>
              </a:rPr>
              <a:t>Claims, citations, confidence, and export</a:t>
            </a:r>
            <a:endParaRPr sz="1275" b="0">
              <a:solidFill>
                <a:srgbClr val="596560"/>
              </a:solidFill>
            </a:endParaRPr>
          </a:p>
        </p:txBody>
      </p:sp>
      <p:sp>
        <p:nvSpPr>
          <p:cNvPr id="20" name="metric-value-0"/>
          <p:cNvSpPr>
            <a:spLocks noGrp="1"/>
          </p:cNvSpPr>
          <p:nvPr/>
        </p:nvSpPr>
        <p:spPr>
          <a:xfrm>
            <a:off x="1066800" y="8181975"/>
            <a:ext cx="3524250" cy="323850"/>
          </a:xfrm>
          <a:prstGeom prst="rect">
            <a:avLst/>
          </a:prstGeom>
          <a:noFill/>
          <a:ln w="0">
            <a:noFill/>
            <a:prstDash val="solid"/>
          </a:ln>
        </p:spPr>
        <p:txBody>
          <a:bodyPr anchor="t"/>
          <a:lstStyle/>
          <a:p>
            <a:pPr algn="ctr">
              <a:buNone/>
              <a:defRPr sz="1875" b="1">
                <a:solidFill>
                  <a:srgbClr val="123F36"/>
                </a:solidFill>
              </a:defRPr>
            </a:pPr>
            <a:r>
              <a:rPr sz="1875" b="1">
                <a:solidFill>
                  <a:srgbClr val="123F36"/>
                </a:solidFill>
              </a:rPr>
              <a:t>3 SOURCE TYPES</a:t>
            </a:r>
            <a:endParaRPr sz="1875" b="1">
              <a:solidFill>
                <a:srgbClr val="123F36"/>
              </a:solidFill>
            </a:endParaRPr>
          </a:p>
        </p:txBody>
      </p:sp>
      <p:sp>
        <p:nvSpPr>
          <p:cNvPr id="21" name="metric-label-0"/>
          <p:cNvSpPr>
            <a:spLocks noGrp="1"/>
          </p:cNvSpPr>
          <p:nvPr/>
        </p:nvSpPr>
        <p:spPr>
          <a:xfrm>
            <a:off x="1066800" y="8601075"/>
            <a:ext cx="3524250" cy="26670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HTML • PDF • CSV</a:t>
            </a:r>
            <a:endParaRPr sz="1200" b="0">
              <a:solidFill>
                <a:srgbClr val="596560"/>
              </a:solidFill>
            </a:endParaRPr>
          </a:p>
        </p:txBody>
      </p:sp>
      <p:sp>
        <p:nvSpPr>
          <p:cNvPr id="22" name="metric-rule-1"/>
          <p:cNvSpPr>
            <a:spLocks noGrp="1"/>
          </p:cNvSpPr>
          <p:nvPr/>
        </p:nvSpPr>
        <p:spPr>
          <a:xfrm>
            <a:off x="4895850" y="8172450"/>
            <a:ext cx="19050" cy="838200"/>
          </a:xfrm>
          <a:prstGeom prst="rect">
            <a:avLst/>
          </a:prstGeom>
          <a:solidFill>
            <a:srgbClr val="CFD9D4"/>
          </a:solidFill>
          <a:ln w="0">
            <a:noFill/>
            <a:prstDash val="solid"/>
          </a:ln>
        </p:spPr>
      </p:sp>
      <p:sp>
        <p:nvSpPr>
          <p:cNvPr id="23" name="metric-value-1"/>
          <p:cNvSpPr>
            <a:spLocks noGrp="1"/>
          </p:cNvSpPr>
          <p:nvPr/>
        </p:nvSpPr>
        <p:spPr>
          <a:xfrm>
            <a:off x="5086350" y="8181975"/>
            <a:ext cx="3524250" cy="323850"/>
          </a:xfrm>
          <a:prstGeom prst="rect">
            <a:avLst/>
          </a:prstGeom>
          <a:noFill/>
          <a:ln w="0">
            <a:noFill/>
            <a:prstDash val="solid"/>
          </a:ln>
        </p:spPr>
        <p:txBody>
          <a:bodyPr anchor="t"/>
          <a:lstStyle/>
          <a:p>
            <a:pPr algn="ctr">
              <a:buNone/>
              <a:defRPr sz="1875" b="1">
                <a:solidFill>
                  <a:srgbClr val="123F36"/>
                </a:solidFill>
              </a:defRPr>
            </a:pPr>
            <a:r>
              <a:rPr sz="1875" b="1">
                <a:solidFill>
                  <a:srgbClr val="123F36"/>
                </a:solidFill>
              </a:rPr>
              <a:t>1 CODE RUN</a:t>
            </a:r>
            <a:endParaRPr sz="1875" b="1">
              <a:solidFill>
                <a:srgbClr val="123F36"/>
              </a:solidFill>
            </a:endParaRPr>
          </a:p>
        </p:txBody>
      </p:sp>
      <p:sp>
        <p:nvSpPr>
          <p:cNvPr id="24" name="metric-label-1"/>
          <p:cNvSpPr>
            <a:spLocks noGrp="1"/>
          </p:cNvSpPr>
          <p:nvPr/>
        </p:nvSpPr>
        <p:spPr>
          <a:xfrm>
            <a:off x="5086350" y="8601075"/>
            <a:ext cx="3524250" cy="26670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Reproducible calculation</a:t>
            </a:r>
            <a:endParaRPr sz="1200" b="0">
              <a:solidFill>
                <a:srgbClr val="596560"/>
              </a:solidFill>
            </a:endParaRPr>
          </a:p>
        </p:txBody>
      </p:sp>
      <p:sp>
        <p:nvSpPr>
          <p:cNvPr id="25" name="metric-rule-2"/>
          <p:cNvSpPr>
            <a:spLocks noGrp="1"/>
          </p:cNvSpPr>
          <p:nvPr/>
        </p:nvSpPr>
        <p:spPr>
          <a:xfrm>
            <a:off x="8915400" y="8172450"/>
            <a:ext cx="19050" cy="838200"/>
          </a:xfrm>
          <a:prstGeom prst="rect">
            <a:avLst/>
          </a:prstGeom>
          <a:solidFill>
            <a:srgbClr val="CFD9D4"/>
          </a:solidFill>
          <a:ln w="0">
            <a:noFill/>
            <a:prstDash val="solid"/>
          </a:ln>
        </p:spPr>
      </p:sp>
      <p:sp>
        <p:nvSpPr>
          <p:cNvPr id="26" name="metric-value-2"/>
          <p:cNvSpPr>
            <a:spLocks noGrp="1"/>
          </p:cNvSpPr>
          <p:nvPr/>
        </p:nvSpPr>
        <p:spPr>
          <a:xfrm>
            <a:off x="9105900" y="8181975"/>
            <a:ext cx="3524250" cy="323850"/>
          </a:xfrm>
          <a:prstGeom prst="rect">
            <a:avLst/>
          </a:prstGeom>
          <a:noFill/>
          <a:ln w="0">
            <a:noFill/>
            <a:prstDash val="solid"/>
          </a:ln>
        </p:spPr>
        <p:txBody>
          <a:bodyPr anchor="t"/>
          <a:lstStyle/>
          <a:p>
            <a:pPr algn="ctr">
              <a:buNone/>
              <a:defRPr sz="1875" b="1">
                <a:solidFill>
                  <a:srgbClr val="397A63"/>
                </a:solidFill>
              </a:defRPr>
            </a:pPr>
            <a:r>
              <a:rPr sz="1875" b="1">
                <a:solidFill>
                  <a:srgbClr val="397A63"/>
                </a:solidFill>
              </a:rPr>
              <a:t>0.556 → 1.000</a:t>
            </a:r>
            <a:endParaRPr sz="1875" b="1">
              <a:solidFill>
                <a:srgbClr val="397A63"/>
              </a:solidFill>
            </a:endParaRPr>
          </a:p>
        </p:txBody>
      </p:sp>
      <p:sp>
        <p:nvSpPr>
          <p:cNvPr id="27" name="metric-label-2"/>
          <p:cNvSpPr>
            <a:spLocks noGrp="1"/>
          </p:cNvSpPr>
          <p:nvPr/>
        </p:nvSpPr>
        <p:spPr>
          <a:xfrm>
            <a:off x="9105900" y="8601075"/>
            <a:ext cx="3524250" cy="26670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Held-out macro F1</a:t>
            </a:r>
            <a:endParaRPr sz="1200" b="0">
              <a:solidFill>
                <a:srgbClr val="596560"/>
              </a:solidFill>
            </a:endParaRPr>
          </a:p>
        </p:txBody>
      </p:sp>
      <p:sp>
        <p:nvSpPr>
          <p:cNvPr id="28" name="metric-rule-3"/>
          <p:cNvSpPr>
            <a:spLocks noGrp="1"/>
          </p:cNvSpPr>
          <p:nvPr/>
        </p:nvSpPr>
        <p:spPr>
          <a:xfrm>
            <a:off x="12934950" y="8172450"/>
            <a:ext cx="19050" cy="838200"/>
          </a:xfrm>
          <a:prstGeom prst="rect">
            <a:avLst/>
          </a:prstGeom>
          <a:solidFill>
            <a:srgbClr val="CFD9D4"/>
          </a:solidFill>
          <a:ln w="0">
            <a:noFill/>
            <a:prstDash val="solid"/>
          </a:ln>
        </p:spPr>
      </p:sp>
      <p:sp>
        <p:nvSpPr>
          <p:cNvPr id="29" name="metric-value-3"/>
          <p:cNvSpPr>
            <a:spLocks noGrp="1"/>
          </p:cNvSpPr>
          <p:nvPr/>
        </p:nvSpPr>
        <p:spPr>
          <a:xfrm>
            <a:off x="13125450" y="8181975"/>
            <a:ext cx="3524250" cy="323850"/>
          </a:xfrm>
          <a:prstGeom prst="rect">
            <a:avLst/>
          </a:prstGeom>
          <a:noFill/>
          <a:ln w="0">
            <a:noFill/>
            <a:prstDash val="solid"/>
          </a:ln>
        </p:spPr>
        <p:txBody>
          <a:bodyPr anchor="t"/>
          <a:lstStyle/>
          <a:p>
            <a:pPr algn="ctr">
              <a:buNone/>
              <a:defRPr sz="1875" b="1">
                <a:solidFill>
                  <a:srgbClr val="123F36"/>
                </a:solidFill>
              </a:defRPr>
            </a:pPr>
            <a:r>
              <a:rPr sz="1875" b="1">
                <a:solidFill>
                  <a:srgbClr val="123F36"/>
                </a:solidFill>
              </a:rPr>
              <a:t>ROLLBACK PASS</a:t>
            </a:r>
            <a:endParaRPr sz="1875" b="1">
              <a:solidFill>
                <a:srgbClr val="123F36"/>
              </a:solidFill>
            </a:endParaRPr>
          </a:p>
        </p:txBody>
      </p:sp>
      <p:sp>
        <p:nvSpPr>
          <p:cNvPr id="30" name="metric-label-3"/>
          <p:cNvSpPr>
            <a:spLocks noGrp="1"/>
          </p:cNvSpPr>
          <p:nvPr/>
        </p:nvSpPr>
        <p:spPr>
          <a:xfrm>
            <a:off x="13125450" y="8601075"/>
            <a:ext cx="3524250" cy="266700"/>
          </a:xfrm>
          <a:prstGeom prst="rect">
            <a:avLst/>
          </a:prstGeom>
          <a:noFill/>
          <a:ln w="0">
            <a:noFill/>
            <a:prstDash val="solid"/>
          </a:ln>
        </p:spPr>
        <p:txBody>
          <a:bodyPr anchor="t"/>
          <a:lstStyle/>
          <a:p>
            <a:pPr algn="ctr">
              <a:buNone/>
              <a:defRPr sz="1200" b="0">
                <a:solidFill>
                  <a:srgbClr val="596560"/>
                </a:solidFill>
              </a:defRPr>
            </a:pPr>
            <a:r>
              <a:rPr sz="1200" b="0">
                <a:solidFill>
                  <a:srgbClr val="596560"/>
                </a:solidFill>
              </a:rPr>
              <a:t>Baseline restored</a:t>
            </a:r>
            <a:endParaRPr sz="1200" b="0">
              <a:solidFill>
                <a:srgbClr val="5965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ph type="title"/>
          </p:nvPr>
        </p:nvSpPr>
        <p:spPr>
          <a:xfrm>
            <a:off x="702469" y="1665065"/>
            <a:ext cx="12585097" cy="1141762"/>
          </a:xfrm>
          <a:prstGeom prst="rect">
            <a:avLst/>
          </a:prstGeom>
        </p:spPr>
        <p:txBody>
          <a:bodyPr vert="horz" wrap="square" lIns="0" tIns="90220" rIns="0" bIns="0" anchor="ctr">
            <a:spAutoFit/>
          </a:bodyPr>
          <a:lstStyle/>
          <a:p>
            <a:pPr marL="12700">
              <a:lnSpc>
                <a:spcPct val="100000"/>
              </a:lnSpc>
              <a:spcBef>
                <a:spcPts val="120"/>
              </a:spcBef>
              <a:buNone/>
              <a:defRPr sz="3150" b="1">
                <a:solidFill>
                  <a:srgbClr val="17201E"/>
                </a:solidFill>
              </a:defRPr>
            </a:pPr>
            <a:r>
              <a:rPr sz="3150" b="1">
                <a:solidFill>
                  <a:srgbClr val="17201E"/>
                </a:solidFill>
              </a:rPr>
              <a:t>Architecture separates trusted control from untrusted research</a:t>
            </a:r>
            <a:endParaRPr spc="-10"/>
          </a:p>
        </p:txBody>
      </p:sp>
      <p:pic>
        <p:nvPicPr>
          <p:cNvPr id="198" name="object 3"/>
          <p:cNvPicPr>
            <a:picLocks noChangeAspect="1"/>
          </p:cNvPicPr>
          <p:nvPr/>
        </p:nvPicPr>
        <p:blipFill>
          <a:blip r:embed="rId1"/>
          <a:stretch>
            <a:fillRect/>
          </a:stretch>
        </p:blipFill>
        <p:spPr>
          <a:xfrm>
            <a:off x="13901315" y="556089"/>
            <a:ext cx="3695971" cy="986861"/>
          </a:xfrm>
          <a:prstGeom prst="rect">
            <a:avLst/>
          </a:prstGeom>
        </p:spPr>
      </p:pic>
      <p:pic>
        <p:nvPicPr>
          <p:cNvPr id="199" name="object 4"/>
          <p:cNvPicPr>
            <a:picLocks noChangeAspect="1"/>
          </p:cNvPicPr>
          <p:nvPr/>
        </p:nvPicPr>
        <p:blipFill>
          <a:blip r:embed="rId2"/>
          <a:stretch>
            <a:fillRect/>
          </a:stretch>
        </p:blipFill>
        <p:spPr>
          <a:xfrm>
            <a:off x="0" y="10012680"/>
            <a:ext cx="18287999" cy="274317"/>
          </a:xfrm>
          <a:prstGeom prst="rect">
            <a:avLst/>
          </a:prstGeom>
        </p:spPr>
      </p:pic>
      <p:sp>
        <p:nvSpPr>
          <p:cNvPr id="5" name="badge-IMPLEMENTED MVP"/>
          <p:cNvSpPr>
            <a:spLocks noGrp="1"/>
          </p:cNvSpPr>
          <p:nvPr/>
        </p:nvSpPr>
        <p:spPr>
          <a:xfrm>
            <a:off x="14144625" y="1771650"/>
            <a:ext cx="3143250" cy="533400"/>
          </a:xfrm>
          <a:prstGeom prst="roundRect">
            <a:avLst>
              <a:gd name="adj" fmla="val 21429"/>
            </a:avLst>
          </a:prstGeom>
          <a:solidFill>
            <a:srgbClr val="FFD75A"/>
          </a:solidFill>
          <a:ln w="9525">
            <a:solidFill>
              <a:srgbClr val="F2B600"/>
            </a:solidFill>
            <a:prstDash val="solid"/>
          </a:ln>
        </p:spPr>
      </p:sp>
      <p:sp>
        <p:nvSpPr>
          <p:cNvPr id="6" name="badge-text-IMPLEMENTED MVP"/>
          <p:cNvSpPr>
            <a:spLocks noGrp="1"/>
          </p:cNvSpPr>
          <p:nvPr/>
        </p:nvSpPr>
        <p:spPr>
          <a:xfrm>
            <a:off x="14306550" y="1895475"/>
            <a:ext cx="2819400" cy="266700"/>
          </a:xfrm>
          <a:prstGeom prst="rect">
            <a:avLst/>
          </a:prstGeom>
          <a:noFill/>
          <a:ln w="0">
            <a:noFill/>
            <a:prstDash val="solid"/>
          </a:ln>
        </p:spPr>
        <p:txBody>
          <a:bodyPr anchor="ctr"/>
          <a:lstStyle/>
          <a:p>
            <a:pPr algn="ctr">
              <a:buNone/>
              <a:defRPr sz="1350" b="1">
                <a:solidFill>
                  <a:srgbClr val="0A2D27"/>
                </a:solidFill>
              </a:defRPr>
            </a:pPr>
            <a:r>
              <a:rPr sz="1350" b="1">
                <a:solidFill>
                  <a:srgbClr val="0A2D27"/>
                </a:solidFill>
              </a:rPr>
              <a:t>IMPLEMENTED MVP</a:t>
            </a:r>
            <a:endParaRPr sz="1350" b="1">
              <a:solidFill>
                <a:srgbClr val="0A2D27"/>
              </a:solidFill>
            </a:endParaRPr>
          </a:p>
        </p:txBody>
      </p:sp>
      <p:sp>
        <p:nvSpPr>
          <p:cNvPr id="7" name="s7-subtitle"/>
          <p:cNvSpPr>
            <a:spLocks noGrp="1"/>
          </p:cNvSpPr>
          <p:nvPr/>
        </p:nvSpPr>
        <p:spPr>
          <a:xfrm>
            <a:off x="914400" y="2790825"/>
            <a:ext cx="13144500" cy="361950"/>
          </a:xfrm>
          <a:prstGeom prst="rect">
            <a:avLst/>
          </a:prstGeom>
          <a:noFill/>
          <a:ln w="0">
            <a:noFill/>
            <a:prstDash val="solid"/>
          </a:ln>
        </p:spPr>
        <p:txBody>
          <a:bodyPr anchor="t"/>
          <a:lstStyle/>
          <a:p>
            <a:pPr algn="l">
              <a:buNone/>
              <a:defRPr sz="1650" b="0">
                <a:solidFill>
                  <a:srgbClr val="596560"/>
                </a:solidFill>
              </a:defRPr>
            </a:pPr>
            <a:r>
              <a:rPr sz="1650" b="0">
                <a:solidFill>
                  <a:srgbClr val="596560"/>
                </a:solidFill>
              </a:rPr>
              <a:t>Capability-scoped tools produce evidence; only the trusted layer can approve behavior changes.</a:t>
            </a:r>
            <a:endParaRPr sz="1650" b="0">
              <a:solidFill>
                <a:srgbClr val="596560"/>
              </a:solidFill>
            </a:endParaRPr>
          </a:p>
        </p:txBody>
      </p:sp>
      <p:sp>
        <p:nvSpPr>
          <p:cNvPr id="8" name="layer-interface"/>
          <p:cNvSpPr>
            <a:spLocks noGrp="1"/>
          </p:cNvSpPr>
          <p:nvPr/>
        </p:nvSpPr>
        <p:spPr>
          <a:xfrm>
            <a:off x="1123950" y="3371850"/>
            <a:ext cx="10668000" cy="1200150"/>
          </a:xfrm>
          <a:prstGeom prst="roundRect">
            <a:avLst>
              <a:gd name="adj" fmla="val 9524"/>
            </a:avLst>
          </a:prstGeom>
          <a:solidFill>
            <a:srgbClr val="F5F7F6"/>
          </a:solidFill>
          <a:ln w="9525">
            <a:solidFill>
              <a:srgbClr val="CFD9D4"/>
            </a:solidFill>
            <a:prstDash val="solid"/>
          </a:ln>
        </p:spPr>
      </p:sp>
      <p:sp>
        <p:nvSpPr>
          <p:cNvPr id="9" name="layer-label-interface"/>
          <p:cNvSpPr>
            <a:spLocks noGrp="1"/>
          </p:cNvSpPr>
          <p:nvPr/>
        </p:nvSpPr>
        <p:spPr>
          <a:xfrm>
            <a:off x="1409700" y="3609975"/>
            <a:ext cx="3143250" cy="266700"/>
          </a:xfrm>
          <a:prstGeom prst="rect">
            <a:avLst/>
          </a:prstGeom>
          <a:noFill/>
          <a:ln w="0">
            <a:noFill/>
            <a:prstDash val="solid"/>
          </a:ln>
        </p:spPr>
        <p:txBody>
          <a:bodyPr anchor="t"/>
          <a:lstStyle/>
          <a:p>
            <a:pPr algn="l">
              <a:buNone/>
              <a:defRPr sz="1500" b="1">
                <a:solidFill>
                  <a:srgbClr val="123F36"/>
                </a:solidFill>
              </a:defRPr>
            </a:pPr>
            <a:r>
              <a:rPr sz="1500" b="1">
                <a:solidFill>
                  <a:srgbClr val="123F36"/>
                </a:solidFill>
              </a:rPr>
              <a:t>INTERACTION</a:t>
            </a:r>
            <a:endParaRPr sz="1500" b="1">
              <a:solidFill>
                <a:srgbClr val="123F36"/>
              </a:solidFill>
            </a:endParaRPr>
          </a:p>
        </p:txBody>
      </p:sp>
      <p:sp>
        <p:nvSpPr>
          <p:cNvPr id="10" name="layer-content-interface"/>
          <p:cNvSpPr>
            <a:spLocks noGrp="1"/>
          </p:cNvSpPr>
          <p:nvPr/>
        </p:nvSpPr>
        <p:spPr>
          <a:xfrm>
            <a:off x="4686300" y="3590925"/>
            <a:ext cx="6667500" cy="666750"/>
          </a:xfrm>
          <a:prstGeom prst="rect">
            <a:avLst/>
          </a:prstGeom>
          <a:noFill/>
          <a:ln w="0">
            <a:noFill/>
            <a:prstDash val="solid"/>
          </a:ln>
        </p:spPr>
        <p:txBody>
          <a:bodyPr anchor="t"/>
          <a:lstStyle/>
          <a:p>
            <a:pPr algn="l">
              <a:buNone/>
              <a:defRPr sz="1650" b="0">
                <a:solidFill>
                  <a:srgbClr val="17201E"/>
                </a:solidFill>
              </a:defRPr>
            </a:pPr>
            <a:r>
              <a:rPr sz="1650" b="0">
                <a:solidFill>
                  <a:srgbClr val="17201E"/>
                </a:solidFill>
              </a:rPr>
              <a:t>Chrome extension  •  Flutter app  •  CLI / API</a:t>
            </a:r>
            <a:endParaRPr sz="1650" b="0">
              <a:solidFill>
                <a:srgbClr val="17201E"/>
              </a:solidFill>
            </a:endParaRPr>
          </a:p>
        </p:txBody>
      </p:sp>
      <p:sp>
        <p:nvSpPr>
          <p:cNvPr id="11" name="layer-orchestrator"/>
          <p:cNvSpPr>
            <a:spLocks noGrp="1"/>
          </p:cNvSpPr>
          <p:nvPr/>
        </p:nvSpPr>
        <p:spPr>
          <a:xfrm>
            <a:off x="1123950" y="4800600"/>
            <a:ext cx="10668000" cy="1200150"/>
          </a:xfrm>
          <a:prstGeom prst="roundRect">
            <a:avLst>
              <a:gd name="adj" fmla="val 9524"/>
            </a:avLst>
          </a:prstGeom>
          <a:solidFill>
            <a:srgbClr val="0A2D27"/>
          </a:solidFill>
          <a:ln w="0">
            <a:solidFill>
              <a:srgbClr val="0A2D27"/>
            </a:solidFill>
            <a:prstDash val="solid"/>
          </a:ln>
        </p:spPr>
      </p:sp>
      <p:sp>
        <p:nvSpPr>
          <p:cNvPr id="12" name="layer-label-orchestrator"/>
          <p:cNvSpPr>
            <a:spLocks noGrp="1"/>
          </p:cNvSpPr>
          <p:nvPr/>
        </p:nvSpPr>
        <p:spPr>
          <a:xfrm>
            <a:off x="1409700" y="5038725"/>
            <a:ext cx="3143250" cy="266700"/>
          </a:xfrm>
          <a:prstGeom prst="rect">
            <a:avLst/>
          </a:prstGeom>
          <a:noFill/>
          <a:ln w="0">
            <a:noFill/>
            <a:prstDash val="solid"/>
          </a:ln>
        </p:spPr>
        <p:txBody>
          <a:bodyPr anchor="t"/>
          <a:lstStyle/>
          <a:p>
            <a:pPr algn="l">
              <a:buNone/>
              <a:defRPr sz="1500" b="1">
                <a:solidFill>
                  <a:srgbClr val="FFD75A"/>
                </a:solidFill>
              </a:defRPr>
            </a:pPr>
            <a:r>
              <a:rPr sz="1500" b="1">
                <a:solidFill>
                  <a:srgbClr val="FFD75A"/>
                </a:solidFill>
              </a:rPr>
              <a:t>ORCHESTRATION</a:t>
            </a:r>
            <a:endParaRPr sz="1500" b="1">
              <a:solidFill>
                <a:srgbClr val="FFD75A"/>
              </a:solidFill>
            </a:endParaRPr>
          </a:p>
        </p:txBody>
      </p:sp>
      <p:sp>
        <p:nvSpPr>
          <p:cNvPr id="13" name="layer-content-orchestrator"/>
          <p:cNvSpPr>
            <a:spLocks noGrp="1"/>
          </p:cNvSpPr>
          <p:nvPr/>
        </p:nvSpPr>
        <p:spPr>
          <a:xfrm>
            <a:off x="4686300" y="5019675"/>
            <a:ext cx="6667500" cy="666750"/>
          </a:xfrm>
          <a:prstGeom prst="rect">
            <a:avLst/>
          </a:prstGeom>
          <a:noFill/>
          <a:ln w="0">
            <a:noFill/>
            <a:prstDash val="solid"/>
          </a:ln>
        </p:spPr>
        <p:txBody>
          <a:bodyPr anchor="t"/>
          <a:lstStyle/>
          <a:p>
            <a:pPr algn="l">
              <a:buNone/>
              <a:defRPr sz="1650" b="1">
                <a:solidFill>
                  <a:srgbClr val="FFFFFF"/>
                </a:solidFill>
              </a:defRPr>
            </a:pPr>
            <a:r>
              <a:rPr sz="1650" b="1">
                <a:solidFill>
                  <a:srgbClr val="FFFFFF"/>
                </a:solidFill>
              </a:rPr>
              <a:t>Research planner  •  23-stage pipeline  •  HITL gates</a:t>
            </a:r>
            <a:endParaRPr sz="1650" b="1">
              <a:solidFill>
                <a:srgbClr val="FFFFFF"/>
              </a:solidFill>
            </a:endParaRPr>
          </a:p>
        </p:txBody>
      </p:sp>
      <p:sp>
        <p:nvSpPr>
          <p:cNvPr id="14" name="layer-tools"/>
          <p:cNvSpPr>
            <a:spLocks noGrp="1"/>
          </p:cNvSpPr>
          <p:nvPr/>
        </p:nvSpPr>
        <p:spPr>
          <a:xfrm>
            <a:off x="1123950" y="6229350"/>
            <a:ext cx="10668000" cy="1200150"/>
          </a:xfrm>
          <a:prstGeom prst="roundRect">
            <a:avLst>
              <a:gd name="adj" fmla="val 9524"/>
            </a:avLst>
          </a:prstGeom>
          <a:solidFill>
            <a:srgbClr val="F5F7F6"/>
          </a:solidFill>
          <a:ln w="9525">
            <a:solidFill>
              <a:srgbClr val="CFD9D4"/>
            </a:solidFill>
            <a:prstDash val="solid"/>
          </a:ln>
        </p:spPr>
      </p:sp>
      <p:sp>
        <p:nvSpPr>
          <p:cNvPr id="15" name="layer-label-tools"/>
          <p:cNvSpPr>
            <a:spLocks noGrp="1"/>
          </p:cNvSpPr>
          <p:nvPr/>
        </p:nvSpPr>
        <p:spPr>
          <a:xfrm>
            <a:off x="1409700" y="6467475"/>
            <a:ext cx="3143250" cy="266700"/>
          </a:xfrm>
          <a:prstGeom prst="rect">
            <a:avLst/>
          </a:prstGeom>
          <a:noFill/>
          <a:ln w="0">
            <a:noFill/>
            <a:prstDash val="solid"/>
          </a:ln>
        </p:spPr>
        <p:txBody>
          <a:bodyPr anchor="t"/>
          <a:lstStyle/>
          <a:p>
            <a:pPr algn="l">
              <a:buNone/>
              <a:defRPr sz="1500" b="1">
                <a:solidFill>
                  <a:srgbClr val="123F36"/>
                </a:solidFill>
              </a:defRPr>
            </a:pPr>
            <a:r>
              <a:rPr sz="1500" b="1">
                <a:solidFill>
                  <a:srgbClr val="123F36"/>
                </a:solidFill>
              </a:rPr>
              <a:t>CAPABILITY-SCOPED TOOLS</a:t>
            </a:r>
            <a:endParaRPr sz="1500" b="1">
              <a:solidFill>
                <a:srgbClr val="123F36"/>
              </a:solidFill>
            </a:endParaRPr>
          </a:p>
        </p:txBody>
      </p:sp>
      <p:sp>
        <p:nvSpPr>
          <p:cNvPr id="16" name="layer-content-tools"/>
          <p:cNvSpPr>
            <a:spLocks noGrp="1"/>
          </p:cNvSpPr>
          <p:nvPr/>
        </p:nvSpPr>
        <p:spPr>
          <a:xfrm>
            <a:off x="4686300" y="6448425"/>
            <a:ext cx="6667500" cy="666750"/>
          </a:xfrm>
          <a:prstGeom prst="rect">
            <a:avLst/>
          </a:prstGeom>
          <a:noFill/>
          <a:ln w="0">
            <a:noFill/>
            <a:prstDash val="solid"/>
          </a:ln>
        </p:spPr>
        <p:txBody>
          <a:bodyPr anchor="t"/>
          <a:lstStyle/>
          <a:p>
            <a:pPr algn="l">
              <a:buNone/>
              <a:defRPr sz="1650" b="0">
                <a:solidFill>
                  <a:srgbClr val="17201E"/>
                </a:solidFill>
              </a:defRPr>
            </a:pPr>
            <a:r>
              <a:rPr sz="1650" b="0">
                <a:solidFill>
                  <a:srgbClr val="17201E"/>
                </a:solidFill>
              </a:rPr>
              <a:t>Web / PDF / RAG  •  Injection quarantine  •  Sandbox</a:t>
            </a:r>
            <a:endParaRPr sz="1650" b="0">
              <a:solidFill>
                <a:srgbClr val="17201E"/>
              </a:solidFill>
            </a:endParaRPr>
          </a:p>
        </p:txBody>
      </p:sp>
      <p:sp>
        <p:nvSpPr>
          <p:cNvPr id="17" name="layer-evidence"/>
          <p:cNvSpPr>
            <a:spLocks noGrp="1"/>
          </p:cNvSpPr>
          <p:nvPr/>
        </p:nvSpPr>
        <p:spPr>
          <a:xfrm>
            <a:off x="1123950" y="7658100"/>
            <a:ext cx="10668000" cy="1200150"/>
          </a:xfrm>
          <a:prstGeom prst="roundRect">
            <a:avLst>
              <a:gd name="adj" fmla="val 9524"/>
            </a:avLst>
          </a:prstGeom>
          <a:solidFill>
            <a:srgbClr val="EAF2EE"/>
          </a:solidFill>
          <a:ln w="9525">
            <a:solidFill>
              <a:srgbClr val="CFD9D4"/>
            </a:solidFill>
            <a:prstDash val="solid"/>
          </a:ln>
        </p:spPr>
      </p:sp>
      <p:sp>
        <p:nvSpPr>
          <p:cNvPr id="18" name="layer-label-evidence"/>
          <p:cNvSpPr>
            <a:spLocks noGrp="1"/>
          </p:cNvSpPr>
          <p:nvPr/>
        </p:nvSpPr>
        <p:spPr>
          <a:xfrm>
            <a:off x="1409700" y="7896225"/>
            <a:ext cx="3143250" cy="266700"/>
          </a:xfrm>
          <a:prstGeom prst="rect">
            <a:avLst/>
          </a:prstGeom>
          <a:noFill/>
          <a:ln w="0">
            <a:noFill/>
            <a:prstDash val="solid"/>
          </a:ln>
        </p:spPr>
        <p:txBody>
          <a:bodyPr anchor="t"/>
          <a:lstStyle/>
          <a:p>
            <a:pPr algn="l">
              <a:buNone/>
              <a:defRPr sz="1500" b="1">
                <a:solidFill>
                  <a:srgbClr val="123F36"/>
                </a:solidFill>
              </a:defRPr>
            </a:pPr>
            <a:r>
              <a:rPr sz="1500" b="1">
                <a:solidFill>
                  <a:srgbClr val="123F36"/>
                </a:solidFill>
              </a:rPr>
              <a:t>EVIDENCE + OUTPUT</a:t>
            </a:r>
            <a:endParaRPr sz="1500" b="1">
              <a:solidFill>
                <a:srgbClr val="123F36"/>
              </a:solidFill>
            </a:endParaRPr>
          </a:p>
        </p:txBody>
      </p:sp>
      <p:sp>
        <p:nvSpPr>
          <p:cNvPr id="19" name="layer-content-evidence"/>
          <p:cNvSpPr>
            <a:spLocks noGrp="1"/>
          </p:cNvSpPr>
          <p:nvPr/>
        </p:nvSpPr>
        <p:spPr>
          <a:xfrm>
            <a:off x="4686300" y="7877175"/>
            <a:ext cx="6667500" cy="666750"/>
          </a:xfrm>
          <a:prstGeom prst="rect">
            <a:avLst/>
          </a:prstGeom>
          <a:noFill/>
          <a:ln w="0">
            <a:noFill/>
            <a:prstDash val="solid"/>
          </a:ln>
        </p:spPr>
        <p:txBody>
          <a:bodyPr anchor="t"/>
          <a:lstStyle/>
          <a:p>
            <a:pPr algn="l">
              <a:buNone/>
              <a:defRPr sz="1650" b="0">
                <a:solidFill>
                  <a:srgbClr val="17201E"/>
                </a:solidFill>
              </a:defRPr>
            </a:pPr>
            <a:r>
              <a:rPr sz="1650" b="0">
                <a:solidFill>
                  <a:srgbClr val="17201E"/>
                </a:solidFill>
              </a:rPr>
              <a:t>Claim graph  •  Project memory  •  Report package  •  Trace</a:t>
            </a:r>
            <a:endParaRPr sz="1650" b="0">
              <a:solidFill>
                <a:srgbClr val="17201E"/>
              </a:solidFill>
            </a:endParaRPr>
          </a:p>
        </p:txBody>
      </p:sp>
      <p:cxnSp>
        <p:nvCxnSpPr>
          <p:cNvPr id="215" name="Straight Arrow Connector 58"/>
          <p:cNvCxnSpPr>
            <a:stCxn id="8" idx="2"/>
            <a:endCxn id="11" idx="0"/>
          </p:cNvCxnSpPr>
          <p:nvPr/>
        </p:nvCxnSpPr>
        <p:spPr>
          <a:xfrm>
            <a:off x="6457950" y="4572000"/>
            <a:ext cx="0" cy="228600"/>
          </a:xfrm>
          <a:prstGeom prst="straightConnector1">
            <a:avLst/>
          </a:prstGeom>
          <a:ln w="28575">
            <a:solidFill>
              <a:srgbClr val="397A63"/>
            </a:solidFill>
            <a:prstDash val="solid"/>
            <a:tailEnd type="triangle" w="med" len="med"/>
          </a:ln>
        </p:spPr>
      </p:cxnSp>
      <p:cxnSp>
        <p:nvCxnSpPr>
          <p:cNvPr id="216" name="Straight Arrow Connector 59"/>
          <p:cNvCxnSpPr>
            <a:stCxn id="11" idx="2"/>
            <a:endCxn id="14" idx="0"/>
          </p:cNvCxnSpPr>
          <p:nvPr/>
        </p:nvCxnSpPr>
        <p:spPr>
          <a:xfrm>
            <a:off x="6457950" y="6000750"/>
            <a:ext cx="0" cy="228600"/>
          </a:xfrm>
          <a:prstGeom prst="straightConnector1">
            <a:avLst/>
          </a:prstGeom>
          <a:ln w="28575">
            <a:solidFill>
              <a:srgbClr val="397A63"/>
            </a:solidFill>
            <a:prstDash val="solid"/>
            <a:tailEnd type="triangle" w="med" len="med"/>
          </a:ln>
        </p:spPr>
      </p:cxnSp>
      <p:cxnSp>
        <p:nvCxnSpPr>
          <p:cNvPr id="217" name="Straight Arrow Connector 60"/>
          <p:cNvCxnSpPr>
            <a:stCxn id="14" idx="2"/>
            <a:endCxn id="17" idx="0"/>
          </p:cNvCxnSpPr>
          <p:nvPr/>
        </p:nvCxnSpPr>
        <p:spPr>
          <a:xfrm>
            <a:off x="6457950" y="7429500"/>
            <a:ext cx="0" cy="228600"/>
          </a:xfrm>
          <a:prstGeom prst="straightConnector1">
            <a:avLst/>
          </a:prstGeom>
          <a:ln w="28575">
            <a:solidFill>
              <a:srgbClr val="397A63"/>
            </a:solidFill>
            <a:prstDash val="solid"/>
            <a:tailEnd type="triangle" w="med" len="med"/>
          </a:ln>
        </p:spPr>
      </p:cxnSp>
      <p:sp>
        <p:nvSpPr>
          <p:cNvPr id="23" name="trusted-control"/>
          <p:cNvSpPr>
            <a:spLocks noGrp="1"/>
          </p:cNvSpPr>
          <p:nvPr/>
        </p:nvSpPr>
        <p:spPr>
          <a:xfrm>
            <a:off x="12477750" y="3371850"/>
            <a:ext cx="4762500" cy="2019300"/>
          </a:xfrm>
          <a:prstGeom prst="roundRect">
            <a:avLst>
              <a:gd name="adj" fmla="val 5660"/>
            </a:avLst>
          </a:prstGeom>
          <a:solidFill>
            <a:srgbClr val="0A2D27"/>
          </a:solidFill>
          <a:ln w="0">
            <a:solidFill>
              <a:srgbClr val="0A2D27"/>
            </a:solidFill>
            <a:prstDash val="solid"/>
          </a:ln>
        </p:spPr>
      </p:sp>
      <p:sp>
        <p:nvSpPr>
          <p:cNvPr id="24" name="trusted-label"/>
          <p:cNvSpPr>
            <a:spLocks noGrp="1"/>
          </p:cNvSpPr>
          <p:nvPr/>
        </p:nvSpPr>
        <p:spPr>
          <a:xfrm>
            <a:off x="12782550" y="3619500"/>
            <a:ext cx="4152900" cy="323850"/>
          </a:xfrm>
          <a:prstGeom prst="rect">
            <a:avLst/>
          </a:prstGeom>
          <a:noFill/>
          <a:ln w="0">
            <a:noFill/>
            <a:prstDash val="solid"/>
          </a:ln>
        </p:spPr>
        <p:txBody>
          <a:bodyPr anchor="t"/>
          <a:lstStyle/>
          <a:p>
            <a:pPr algn="ctr">
              <a:buNone/>
              <a:defRPr sz="1725" b="1">
                <a:solidFill>
                  <a:srgbClr val="FFD75A"/>
                </a:solidFill>
              </a:defRPr>
            </a:pPr>
            <a:r>
              <a:rPr sz="1725" b="1">
                <a:solidFill>
                  <a:srgbClr val="FFD75A"/>
                </a:solidFill>
              </a:rPr>
              <a:t>TRUSTED CONTROL</a:t>
            </a:r>
            <a:endParaRPr sz="1725" b="1">
              <a:solidFill>
                <a:srgbClr val="FFD75A"/>
              </a:solidFill>
            </a:endParaRPr>
          </a:p>
        </p:txBody>
      </p:sp>
      <p:sp>
        <p:nvSpPr>
          <p:cNvPr id="25" name="trusted-items"/>
          <p:cNvSpPr>
            <a:spLocks noGrp="1"/>
          </p:cNvSpPr>
          <p:nvPr/>
        </p:nvSpPr>
        <p:spPr>
          <a:xfrm>
            <a:off x="12782550" y="4095750"/>
            <a:ext cx="4152900" cy="819150"/>
          </a:xfrm>
          <a:prstGeom prst="rect">
            <a:avLst/>
          </a:prstGeom>
          <a:noFill/>
          <a:ln w="0">
            <a:noFill/>
            <a:prstDash val="solid"/>
          </a:ln>
        </p:spPr>
        <p:txBody>
          <a:bodyPr anchor="t"/>
          <a:lstStyle/>
          <a:p>
            <a:pPr algn="ctr">
              <a:buNone/>
              <a:defRPr sz="1650" b="1">
                <a:solidFill>
                  <a:srgbClr val="FFFFFF"/>
                </a:solidFill>
              </a:defRPr>
            </a:pPr>
            <a:r>
              <a:rPr sz="1650" b="1">
                <a:solidFill>
                  <a:srgbClr val="FFFFFF"/>
                </a:solidFill>
              </a:rPr>
              <a:t>Policy  •  permissions</a:t>
            </a:r>
            <a:endParaRPr sz="1650" b="1">
              <a:solidFill>
                <a:srgbClr val="FFFFFF"/>
              </a:solidFill>
            </a:endParaRPr>
          </a:p>
          <a:p>
            <a:pPr algn="ctr">
              <a:buNone/>
              <a:defRPr sz="1650" b="1">
                <a:solidFill>
                  <a:srgbClr val="FFFFFF"/>
                </a:solidFill>
              </a:defRPr>
            </a:pPr>
            <a:r>
              <a:rPr sz="1650" b="1">
                <a:solidFill>
                  <a:srgbClr val="FFFFFF"/>
                </a:solidFill>
              </a:rPr>
              <a:t>approval rules  •  rollback state</a:t>
            </a:r>
            <a:endParaRPr sz="1650" b="1">
              <a:solidFill>
                <a:srgbClr val="FFFFFF"/>
              </a:solidFill>
            </a:endParaRPr>
          </a:p>
        </p:txBody>
      </p:sp>
      <p:sp>
        <p:nvSpPr>
          <p:cNvPr id="26" name="evolution-lane"/>
          <p:cNvSpPr>
            <a:spLocks noGrp="1"/>
          </p:cNvSpPr>
          <p:nvPr/>
        </p:nvSpPr>
        <p:spPr>
          <a:xfrm>
            <a:off x="12477750" y="5676900"/>
            <a:ext cx="4762500" cy="3181350"/>
          </a:xfrm>
          <a:prstGeom prst="roundRect">
            <a:avLst>
              <a:gd name="adj" fmla="val 3593"/>
            </a:avLst>
          </a:prstGeom>
          <a:solidFill>
            <a:srgbClr val="F5F7F6"/>
          </a:solidFill>
          <a:ln w="9525">
            <a:solidFill>
              <a:srgbClr val="CFD9D4"/>
            </a:solidFill>
            <a:prstDash val="solid"/>
          </a:ln>
        </p:spPr>
      </p:sp>
      <p:sp>
        <p:nvSpPr>
          <p:cNvPr id="27" name="evolution-label"/>
          <p:cNvSpPr>
            <a:spLocks noGrp="1"/>
          </p:cNvSpPr>
          <p:nvPr/>
        </p:nvSpPr>
        <p:spPr>
          <a:xfrm>
            <a:off x="12782550" y="5905500"/>
            <a:ext cx="4152900" cy="285750"/>
          </a:xfrm>
          <a:prstGeom prst="rect">
            <a:avLst/>
          </a:prstGeom>
          <a:noFill/>
          <a:ln w="0">
            <a:noFill/>
            <a:prstDash val="solid"/>
          </a:ln>
        </p:spPr>
        <p:txBody>
          <a:bodyPr anchor="t"/>
          <a:lstStyle/>
          <a:p>
            <a:pPr algn="ctr">
              <a:buNone/>
              <a:defRPr sz="1575" b="1">
                <a:solidFill>
                  <a:srgbClr val="123F36"/>
                </a:solidFill>
              </a:defRPr>
            </a:pPr>
            <a:r>
              <a:rPr sz="1575" b="1">
                <a:solidFill>
                  <a:srgbClr val="123F36"/>
                </a:solidFill>
              </a:rPr>
              <a:t>GOVERNED EVOLUTION</a:t>
            </a:r>
            <a:endParaRPr sz="1575" b="1">
              <a:solidFill>
                <a:srgbClr val="123F36"/>
              </a:solidFill>
            </a:endParaRPr>
          </a:p>
        </p:txBody>
      </p:sp>
      <p:sp>
        <p:nvSpPr>
          <p:cNvPr id="28" name="arch-evo-0"/>
          <p:cNvSpPr>
            <a:spLocks noGrp="1"/>
          </p:cNvSpPr>
          <p:nvPr/>
        </p:nvSpPr>
        <p:spPr>
          <a:xfrm>
            <a:off x="12877800" y="6419850"/>
            <a:ext cx="3962400" cy="457200"/>
          </a:xfrm>
          <a:prstGeom prst="roundRect">
            <a:avLst>
              <a:gd name="adj" fmla="val 25000"/>
            </a:avLst>
          </a:prstGeom>
          <a:solidFill>
            <a:srgbClr val="FFFFFF"/>
          </a:solidFill>
          <a:ln w="9525">
            <a:solidFill>
              <a:srgbClr val="CFD9D4"/>
            </a:solidFill>
            <a:prstDash val="solid"/>
          </a:ln>
        </p:spPr>
      </p:sp>
      <p:sp>
        <p:nvSpPr>
          <p:cNvPr id="29" name="arch-evo-text-0"/>
          <p:cNvSpPr>
            <a:spLocks noGrp="1"/>
          </p:cNvSpPr>
          <p:nvPr/>
        </p:nvSpPr>
        <p:spPr>
          <a:xfrm>
            <a:off x="13011150" y="6543675"/>
            <a:ext cx="3695700" cy="209550"/>
          </a:xfrm>
          <a:prstGeom prst="rect">
            <a:avLst/>
          </a:prstGeom>
          <a:noFill/>
          <a:ln w="0">
            <a:noFill/>
            <a:prstDash val="solid"/>
          </a:ln>
        </p:spPr>
        <p:txBody>
          <a:bodyPr anchor="t"/>
          <a:lstStyle/>
          <a:p>
            <a:pPr algn="ctr">
              <a:buNone/>
              <a:defRPr sz="1200" b="1">
                <a:solidFill>
                  <a:srgbClr val="17201E"/>
                </a:solidFill>
              </a:defRPr>
            </a:pPr>
            <a:r>
              <a:rPr sz="1200" b="1">
                <a:solidFill>
                  <a:srgbClr val="17201E"/>
                </a:solidFill>
              </a:rPr>
              <a:t>CANDIDATE  —  Versioned proposal</a:t>
            </a:r>
            <a:endParaRPr sz="1200" b="1">
              <a:solidFill>
                <a:srgbClr val="17201E"/>
              </a:solidFill>
            </a:endParaRPr>
          </a:p>
        </p:txBody>
      </p:sp>
      <p:sp>
        <p:nvSpPr>
          <p:cNvPr id="30" name="arch-evo-1"/>
          <p:cNvSpPr>
            <a:spLocks noGrp="1"/>
          </p:cNvSpPr>
          <p:nvPr/>
        </p:nvSpPr>
        <p:spPr>
          <a:xfrm>
            <a:off x="12877800" y="6972300"/>
            <a:ext cx="3962400" cy="457200"/>
          </a:xfrm>
          <a:prstGeom prst="roundRect">
            <a:avLst>
              <a:gd name="adj" fmla="val 25000"/>
            </a:avLst>
          </a:prstGeom>
          <a:solidFill>
            <a:srgbClr val="FFFFFF"/>
          </a:solidFill>
          <a:ln w="9525">
            <a:solidFill>
              <a:srgbClr val="CFD9D4"/>
            </a:solidFill>
            <a:prstDash val="solid"/>
          </a:ln>
        </p:spPr>
      </p:sp>
      <p:sp>
        <p:nvSpPr>
          <p:cNvPr id="31" name="arch-evo-text-1"/>
          <p:cNvSpPr>
            <a:spLocks noGrp="1"/>
          </p:cNvSpPr>
          <p:nvPr/>
        </p:nvSpPr>
        <p:spPr>
          <a:xfrm>
            <a:off x="13011150" y="7096125"/>
            <a:ext cx="3695700" cy="209550"/>
          </a:xfrm>
          <a:prstGeom prst="rect">
            <a:avLst/>
          </a:prstGeom>
          <a:noFill/>
          <a:ln w="0">
            <a:noFill/>
            <a:prstDash val="solid"/>
          </a:ln>
        </p:spPr>
        <p:txBody>
          <a:bodyPr anchor="t"/>
          <a:lstStyle/>
          <a:p>
            <a:pPr algn="ctr">
              <a:buNone/>
              <a:defRPr sz="1200" b="1">
                <a:solidFill>
                  <a:srgbClr val="17201E"/>
                </a:solidFill>
              </a:defRPr>
            </a:pPr>
            <a:r>
              <a:rPr sz="1200" b="1">
                <a:solidFill>
                  <a:srgbClr val="17201E"/>
                </a:solidFill>
              </a:rPr>
              <a:t>HELD-OUT A/B  —  Quality + safety test</a:t>
            </a:r>
            <a:endParaRPr sz="1200" b="1">
              <a:solidFill>
                <a:srgbClr val="17201E"/>
              </a:solidFill>
            </a:endParaRPr>
          </a:p>
        </p:txBody>
      </p:sp>
      <p:sp>
        <p:nvSpPr>
          <p:cNvPr id="32" name="arch-evo-2"/>
          <p:cNvSpPr>
            <a:spLocks noGrp="1"/>
          </p:cNvSpPr>
          <p:nvPr/>
        </p:nvSpPr>
        <p:spPr>
          <a:xfrm>
            <a:off x="12877800" y="7524750"/>
            <a:ext cx="3962400" cy="457200"/>
          </a:xfrm>
          <a:prstGeom prst="roundRect">
            <a:avLst>
              <a:gd name="adj" fmla="val 25000"/>
            </a:avLst>
          </a:prstGeom>
          <a:solidFill>
            <a:srgbClr val="FFD75A"/>
          </a:solidFill>
          <a:ln w="9525">
            <a:solidFill>
              <a:srgbClr val="F2B600"/>
            </a:solidFill>
            <a:prstDash val="solid"/>
          </a:ln>
        </p:spPr>
      </p:sp>
      <p:sp>
        <p:nvSpPr>
          <p:cNvPr id="33" name="arch-evo-text-2"/>
          <p:cNvSpPr>
            <a:spLocks noGrp="1"/>
          </p:cNvSpPr>
          <p:nvPr/>
        </p:nvSpPr>
        <p:spPr>
          <a:xfrm>
            <a:off x="13011150" y="7648575"/>
            <a:ext cx="3695700" cy="209550"/>
          </a:xfrm>
          <a:prstGeom prst="rect">
            <a:avLst/>
          </a:prstGeom>
          <a:noFill/>
          <a:ln w="0">
            <a:noFill/>
            <a:prstDash val="solid"/>
          </a:ln>
        </p:spPr>
        <p:txBody>
          <a:bodyPr anchor="t"/>
          <a:lstStyle/>
          <a:p>
            <a:pPr algn="ctr">
              <a:buNone/>
              <a:defRPr sz="1200" b="1">
                <a:solidFill>
                  <a:srgbClr val="0A2D27"/>
                </a:solidFill>
              </a:defRPr>
            </a:pPr>
            <a:r>
              <a:rPr sz="1200" b="1">
                <a:solidFill>
                  <a:srgbClr val="0A2D27"/>
                </a:solidFill>
              </a:rPr>
              <a:t>HUMAN GATE  —  Approve or reject</a:t>
            </a:r>
            <a:endParaRPr sz="1200" b="1">
              <a:solidFill>
                <a:srgbClr val="0A2D27"/>
              </a:solidFill>
            </a:endParaRPr>
          </a:p>
        </p:txBody>
      </p:sp>
      <p:sp>
        <p:nvSpPr>
          <p:cNvPr id="34" name="arch-evo-3"/>
          <p:cNvSpPr>
            <a:spLocks noGrp="1"/>
          </p:cNvSpPr>
          <p:nvPr/>
        </p:nvSpPr>
        <p:spPr>
          <a:xfrm>
            <a:off x="12877800" y="8077200"/>
            <a:ext cx="3962400" cy="457200"/>
          </a:xfrm>
          <a:prstGeom prst="roundRect">
            <a:avLst>
              <a:gd name="adj" fmla="val 25000"/>
            </a:avLst>
          </a:prstGeom>
          <a:solidFill>
            <a:srgbClr val="FFFFFF"/>
          </a:solidFill>
          <a:ln w="9525">
            <a:solidFill>
              <a:srgbClr val="CFD9D4"/>
            </a:solidFill>
            <a:prstDash val="solid"/>
          </a:ln>
        </p:spPr>
      </p:sp>
      <p:sp>
        <p:nvSpPr>
          <p:cNvPr id="35" name="arch-evo-text-3"/>
          <p:cNvSpPr>
            <a:spLocks noGrp="1"/>
          </p:cNvSpPr>
          <p:nvPr/>
        </p:nvSpPr>
        <p:spPr>
          <a:xfrm>
            <a:off x="13011150" y="8201025"/>
            <a:ext cx="3695700" cy="209550"/>
          </a:xfrm>
          <a:prstGeom prst="rect">
            <a:avLst/>
          </a:prstGeom>
          <a:noFill/>
          <a:ln w="0">
            <a:noFill/>
            <a:prstDash val="solid"/>
          </a:ln>
        </p:spPr>
        <p:txBody>
          <a:bodyPr anchor="t"/>
          <a:lstStyle/>
          <a:p>
            <a:pPr algn="ctr">
              <a:buNone/>
              <a:defRPr sz="1200" b="1">
                <a:solidFill>
                  <a:srgbClr val="17201E"/>
                </a:solidFill>
              </a:defRPr>
            </a:pPr>
            <a:r>
              <a:rPr sz="1200" b="1">
                <a:solidFill>
                  <a:srgbClr val="17201E"/>
                </a:solidFill>
              </a:rPr>
              <a:t>ACTIVATE / ROLLBACK  —  Reversible behavior</a:t>
            </a:r>
            <a:endParaRPr sz="1200" b="1">
              <a:solidFill>
                <a:srgbClr val="17201E"/>
              </a:solidFill>
            </a:endParaRPr>
          </a:p>
        </p:txBody>
      </p:sp>
      <p:cxnSp>
        <p:nvCxnSpPr>
          <p:cNvPr id="231" name="Straight Arrow Connector 74"/>
          <p:cNvCxnSpPr>
            <a:stCxn id="28" idx="2"/>
            <a:endCxn id="30" idx="0"/>
          </p:cNvCxnSpPr>
          <p:nvPr/>
        </p:nvCxnSpPr>
        <p:spPr>
          <a:xfrm>
            <a:off x="14859000" y="6877050"/>
            <a:ext cx="0" cy="95250"/>
          </a:xfrm>
          <a:prstGeom prst="straightConnector1">
            <a:avLst/>
          </a:prstGeom>
          <a:ln w="19050">
            <a:solidFill>
              <a:srgbClr val="397A63"/>
            </a:solidFill>
            <a:prstDash val="solid"/>
            <a:tailEnd type="triangle" w="sm" len="sm"/>
          </a:ln>
        </p:spPr>
      </p:cxnSp>
      <p:cxnSp>
        <p:nvCxnSpPr>
          <p:cNvPr id="232" name="Straight Arrow Connector 75"/>
          <p:cNvCxnSpPr>
            <a:stCxn id="30" idx="2"/>
            <a:endCxn id="32" idx="0"/>
          </p:cNvCxnSpPr>
          <p:nvPr/>
        </p:nvCxnSpPr>
        <p:spPr>
          <a:xfrm>
            <a:off x="14859000" y="7429500"/>
            <a:ext cx="0" cy="95250"/>
          </a:xfrm>
          <a:prstGeom prst="straightConnector1">
            <a:avLst/>
          </a:prstGeom>
          <a:ln w="19050">
            <a:solidFill>
              <a:srgbClr val="397A63"/>
            </a:solidFill>
            <a:prstDash val="solid"/>
            <a:tailEnd type="triangle" w="sm" len="sm"/>
          </a:ln>
        </p:spPr>
      </p:cxnSp>
      <p:cxnSp>
        <p:nvCxnSpPr>
          <p:cNvPr id="233" name="Straight Arrow Connector 76"/>
          <p:cNvCxnSpPr>
            <a:stCxn id="32" idx="2"/>
            <a:endCxn id="34" idx="0"/>
          </p:cNvCxnSpPr>
          <p:nvPr/>
        </p:nvCxnSpPr>
        <p:spPr>
          <a:xfrm>
            <a:off x="14859000" y="7981950"/>
            <a:ext cx="0" cy="95250"/>
          </a:xfrm>
          <a:prstGeom prst="straightConnector1">
            <a:avLst/>
          </a:prstGeom>
          <a:ln w="19050">
            <a:solidFill>
              <a:srgbClr val="397A63"/>
            </a:solidFill>
            <a:prstDash val="solid"/>
            <a:tailEnd type="triangle" w="sm" len="sm"/>
          </a:ln>
        </p:spPr>
      </p:cxnSp>
      <p:sp>
        <p:nvSpPr>
          <p:cNvPr id="39" name="blocked-callout"/>
          <p:cNvSpPr>
            <a:spLocks noGrp="1"/>
          </p:cNvSpPr>
          <p:nvPr/>
        </p:nvSpPr>
        <p:spPr>
          <a:xfrm>
            <a:off x="12477750" y="9029700"/>
            <a:ext cx="4762500" cy="419100"/>
          </a:xfrm>
          <a:prstGeom prst="roundRect">
            <a:avLst>
              <a:gd name="adj" fmla="val 27273"/>
            </a:avLst>
          </a:prstGeom>
          <a:solidFill>
            <a:srgbClr val="F7E8E5"/>
          </a:solidFill>
          <a:ln w="9525">
            <a:solidFill>
              <a:srgbClr val="B8473E"/>
            </a:solidFill>
            <a:prstDash val="solid"/>
          </a:ln>
        </p:spPr>
      </p:sp>
      <p:sp>
        <p:nvSpPr>
          <p:cNvPr id="40" name="blocked-text"/>
          <p:cNvSpPr>
            <a:spLocks noGrp="1"/>
          </p:cNvSpPr>
          <p:nvPr/>
        </p:nvSpPr>
        <p:spPr>
          <a:xfrm>
            <a:off x="12630150" y="9144000"/>
            <a:ext cx="4457700" cy="190500"/>
          </a:xfrm>
          <a:prstGeom prst="rect">
            <a:avLst/>
          </a:prstGeom>
          <a:noFill/>
          <a:ln w="0">
            <a:noFill/>
            <a:prstDash val="solid"/>
          </a:ln>
        </p:spPr>
        <p:txBody>
          <a:bodyPr anchor="t"/>
          <a:lstStyle/>
          <a:p>
            <a:pPr algn="ctr">
              <a:buNone/>
              <a:defRPr sz="1125" b="1">
                <a:solidFill>
                  <a:srgbClr val="B8473E"/>
                </a:solidFill>
              </a:defRPr>
            </a:pPr>
            <a:r>
              <a:rPr sz="1125" b="1">
                <a:solidFill>
                  <a:srgbClr val="B8473E"/>
                </a:solidFill>
              </a:rPr>
              <a:t>BLOCKED: candidate cannot alter policy or permissions</a:t>
            </a:r>
            <a:endParaRPr sz="1125" b="1">
              <a:solidFill>
                <a:srgbClr val="B8473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ph type="title"/>
          </p:nvPr>
        </p:nvSpPr>
        <p:spPr>
          <a:xfrm>
            <a:off x="242570" y="183515"/>
            <a:ext cx="17692370" cy="11266805"/>
          </a:xfrm>
          <a:prstGeom prst="rect">
            <a:avLst/>
          </a:prstGeom>
        </p:spPr>
        <p:txBody>
          <a:bodyPr vert="horz" wrap="square" lIns="0" tIns="90220" rIns="0" bIns="0">
            <a:noAutofit/>
          </a:bodyPr>
          <a:lstStyle/>
          <a:p>
            <a:pPr marL="12700">
              <a:lnSpc>
                <a:spcPct val="100000"/>
              </a:lnSpc>
              <a:spcBef>
                <a:spcPts val="120"/>
              </a:spcBef>
              <a:buNone/>
            </a:pPr>
            <a:r>
              <a:t>TECHNOLOGIES USED IN FINDWELL</a:t>
            </a:r>
            <a:br/>
            <a:br/>
            <a:br/>
            <a:br/>
            <a:r>
              <a:t>• Frontend: Chrome Extension — HTML, CSS and JavaScript</a:t>
            </a:r>
            <a:r>
              <a:t>.</a:t>
            </a:r>
            <a:br/>
            <a:r>
              <a:t>• Mobile Application: Flutter and Dart</a:t>
            </a:r>
            <a:r>
              <a:t>.</a:t>
            </a:r>
            <a:br/>
            <a:r>
              <a:t>• Core Agent &amp; Backend: Python 3.11+</a:t>
            </a:r>
            <a:br/>
            <a:r>
              <a:t>• AI Integration: OpenAI, Gemini, Claude and other configurable LLM providers</a:t>
            </a:r>
            <a:r>
              <a:t>.</a:t>
            </a:r>
            <a:br/>
            <a:r>
              <a:t>• Web &amp; Document Research: Crawl4AI, Tavily/DuckDuckGo, arXiv and PyMuPDF</a:t>
            </a:r>
            <a:r>
              <a:t>.</a:t>
            </a:r>
            <a:br/>
            <a:r>
              <a:t>• Data Processing: CSV, JSON, JSONL and NumPy</a:t>
            </a:r>
            <a:br/>
            <a:r>
              <a:t>• Secure Code Execution: Docker sandbox, AST validation, network restrictions and resource limits</a:t>
            </a:r>
            <a:br/>
            <a:r>
              <a:t>• Security: Prompt-injection quarantine, protected policy layer and human approval gates</a:t>
            </a:r>
            <a:br/>
            <a:r>
              <a:t>• Self-Evolution: Versioned strategy registry, held-out A/B evaluation and rollback</a:t>
            </a:r>
            <a:br/>
            <a:r>
              <a:t>• Evidence &amp; Export: Citation verification, SHA-256 provenance, evidence maps and audit traces</a:t>
            </a:r>
            <a:br/>
            <a:r>
              <a:t>• Testing &amp; Development: Pytest, Git and GitHub</a:t>
            </a:r>
            <a:br/>
            <a:endParaRPr spc="-10"/>
          </a:p>
        </p:txBody>
      </p:sp>
      <p:pic>
        <p:nvPicPr>
          <p:cNvPr id="6" name="object 3"/>
          <p:cNvPicPr>
            <a:picLocks noChangeAspect="1"/>
          </p:cNvPicPr>
          <p:nvPr/>
        </p:nvPicPr>
        <p:blipFill>
          <a:blip r:embed="rId1"/>
          <a:stretch>
            <a:fillRect/>
          </a:stretch>
        </p:blipFill>
        <p:spPr>
          <a:xfrm>
            <a:off x="13901315" y="556089"/>
            <a:ext cx="3695971" cy="986861"/>
          </a:xfrm>
          <a:prstGeom prst="rect">
            <a:avLst/>
          </a:prstGeom>
        </p:spPr>
      </p:pic>
      <p:pic>
        <p:nvPicPr>
          <p:cNvPr id="7" name="object 4"/>
          <p:cNvPicPr>
            <a:picLocks noChangeAspect="1"/>
          </p:cNvPicPr>
          <p:nvPr/>
        </p:nvPicPr>
        <p:blipFill>
          <a:blip r:embed="rId2"/>
          <a:stretch>
            <a:fillRect/>
          </a:stretch>
        </p:blipFill>
        <p:spPr>
          <a:xfrm>
            <a:off x="0" y="10012680"/>
            <a:ext cx="18287999" cy="2743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object 2"/>
          <p:cNvSpPr>
            <a:spLocks noGrp="1"/>
          </p:cNvSpPr>
          <p:nvPr>
            <p:ph type="title"/>
          </p:nvPr>
        </p:nvSpPr>
        <p:spPr>
          <a:xfrm>
            <a:off x="702469" y="1665065"/>
            <a:ext cx="12585097" cy="1141762"/>
          </a:xfrm>
          <a:prstGeom prst="rect">
            <a:avLst/>
          </a:prstGeom>
        </p:spPr>
        <p:txBody>
          <a:bodyPr vert="horz" wrap="square" lIns="0" tIns="90220" rIns="0" bIns="0" anchor="ctr">
            <a:spAutoFit/>
          </a:bodyPr>
          <a:lstStyle/>
          <a:p>
            <a:pPr marL="12700">
              <a:lnSpc>
                <a:spcPct val="100000"/>
              </a:lnSpc>
              <a:spcBef>
                <a:spcPts val="120"/>
              </a:spcBef>
              <a:buNone/>
              <a:defRPr sz="3150" b="1">
                <a:solidFill>
                  <a:srgbClr val="17201E"/>
                </a:solidFill>
              </a:defRPr>
            </a:pPr>
            <a:r>
              <a:rPr sz="3150" b="1">
                <a:solidFill>
                  <a:srgbClr val="17201E"/>
                </a:solidFill>
              </a:rPr>
              <a:t>Cost stays low; APIs and sandbox usage drive scale</a:t>
            </a:r>
            <a:endParaRPr spc="-10"/>
          </a:p>
        </p:txBody>
      </p:sp>
      <p:pic>
        <p:nvPicPr>
          <p:cNvPr id="59" name="object 3"/>
          <p:cNvPicPr>
            <a:picLocks noChangeAspect="1"/>
          </p:cNvPicPr>
          <p:nvPr/>
        </p:nvPicPr>
        <p:blipFill>
          <a:blip r:embed="rId1"/>
          <a:stretch>
            <a:fillRect/>
          </a:stretch>
        </p:blipFill>
        <p:spPr>
          <a:xfrm>
            <a:off x="13901315" y="556089"/>
            <a:ext cx="3695971" cy="986861"/>
          </a:xfrm>
          <a:prstGeom prst="rect">
            <a:avLst/>
          </a:prstGeom>
        </p:spPr>
      </p:pic>
      <p:pic>
        <p:nvPicPr>
          <p:cNvPr id="60" name="object 4"/>
          <p:cNvPicPr>
            <a:picLocks noChangeAspect="1"/>
          </p:cNvPicPr>
          <p:nvPr/>
        </p:nvPicPr>
        <p:blipFill>
          <a:blip r:embed="rId2"/>
          <a:stretch>
            <a:fillRect/>
          </a:stretch>
        </p:blipFill>
        <p:spPr>
          <a:xfrm>
            <a:off x="0" y="10012680"/>
            <a:ext cx="18287999" cy="274317"/>
          </a:xfrm>
          <a:prstGeom prst="rect">
            <a:avLst/>
          </a:prstGeom>
        </p:spPr>
      </p:pic>
      <p:sp>
        <p:nvSpPr>
          <p:cNvPr id="5" name="badge-ESTIMATED COST"/>
          <p:cNvSpPr>
            <a:spLocks noGrp="1"/>
          </p:cNvSpPr>
          <p:nvPr/>
        </p:nvSpPr>
        <p:spPr>
          <a:xfrm>
            <a:off x="14144625" y="1771650"/>
            <a:ext cx="3143250" cy="533400"/>
          </a:xfrm>
          <a:prstGeom prst="roundRect">
            <a:avLst>
              <a:gd name="adj" fmla="val 21429"/>
            </a:avLst>
          </a:prstGeom>
          <a:solidFill>
            <a:srgbClr val="FFD75A"/>
          </a:solidFill>
          <a:ln w="9525">
            <a:solidFill>
              <a:srgbClr val="F2B600"/>
            </a:solidFill>
            <a:prstDash val="solid"/>
          </a:ln>
        </p:spPr>
      </p:sp>
      <p:sp>
        <p:nvSpPr>
          <p:cNvPr id="6" name="badge-text-ESTIMATED COST"/>
          <p:cNvSpPr>
            <a:spLocks noGrp="1"/>
          </p:cNvSpPr>
          <p:nvPr/>
        </p:nvSpPr>
        <p:spPr>
          <a:xfrm>
            <a:off x="14306550" y="1895475"/>
            <a:ext cx="2819400" cy="266700"/>
          </a:xfrm>
          <a:prstGeom prst="rect">
            <a:avLst/>
          </a:prstGeom>
          <a:noFill/>
          <a:ln w="0">
            <a:noFill/>
            <a:prstDash val="solid"/>
          </a:ln>
        </p:spPr>
        <p:txBody>
          <a:bodyPr anchor="ctr"/>
          <a:lstStyle/>
          <a:p>
            <a:pPr algn="ctr">
              <a:buNone/>
              <a:defRPr sz="1350" b="1">
                <a:solidFill>
                  <a:srgbClr val="0A2D27"/>
                </a:solidFill>
              </a:defRPr>
            </a:pPr>
            <a:r>
              <a:rPr sz="1350" b="1">
                <a:solidFill>
                  <a:srgbClr val="0A2D27"/>
                </a:solidFill>
              </a:rPr>
              <a:t>ESTIMATED COST</a:t>
            </a:r>
            <a:endParaRPr sz="1350" b="1">
              <a:solidFill>
                <a:srgbClr val="0A2D27"/>
              </a:solidFill>
            </a:endParaRPr>
          </a:p>
        </p:txBody>
      </p:sp>
      <p:sp>
        <p:nvSpPr>
          <p:cNvPr id="7" name="s9-subtitle"/>
          <p:cNvSpPr>
            <a:spLocks noGrp="1"/>
          </p:cNvSpPr>
          <p:nvPr/>
        </p:nvSpPr>
        <p:spPr>
          <a:xfrm>
            <a:off x="914400" y="2790825"/>
            <a:ext cx="13144500" cy="361950"/>
          </a:xfrm>
          <a:prstGeom prst="rect">
            <a:avLst/>
          </a:prstGeom>
          <a:noFill/>
          <a:ln w="0">
            <a:noFill/>
            <a:prstDash val="solid"/>
          </a:ln>
        </p:spPr>
        <p:txBody>
          <a:bodyPr anchor="t"/>
          <a:lstStyle/>
          <a:p>
            <a:pPr algn="l">
              <a:buNone/>
              <a:defRPr sz="1650" b="0">
                <a:solidFill>
                  <a:srgbClr val="596560"/>
                </a:solidFill>
              </a:defRPr>
            </a:pPr>
            <a:r>
              <a:rPr sz="1650" b="0">
                <a:solidFill>
                  <a:srgbClr val="596560"/>
                </a:solidFill>
              </a:rPr>
              <a:t>The team-built MVP has no software-licence cost; recurring spend grows with research volume.</a:t>
            </a:r>
            <a:endParaRPr sz="1650" b="0">
              <a:solidFill>
                <a:srgbClr val="596560"/>
              </a:solidFill>
            </a:endParaRPr>
          </a:p>
        </p:txBody>
      </p:sp>
      <p:sp>
        <p:nvSpPr>
          <p:cNvPr id="8" name="monthly-cost-field"/>
          <p:cNvSpPr>
            <a:spLocks noGrp="1"/>
          </p:cNvSpPr>
          <p:nvPr/>
        </p:nvSpPr>
        <p:spPr>
          <a:xfrm>
            <a:off x="1066800" y="3429000"/>
            <a:ext cx="10096500" cy="3876675"/>
          </a:xfrm>
          <a:prstGeom prst="roundRect">
            <a:avLst>
              <a:gd name="adj" fmla="val 2948"/>
            </a:avLst>
          </a:prstGeom>
          <a:solidFill>
            <a:srgbClr val="EAF2EE"/>
          </a:solidFill>
          <a:ln w="9525">
            <a:solidFill>
              <a:srgbClr val="CFD9D4"/>
            </a:solidFill>
            <a:prstDash val="solid"/>
          </a:ln>
        </p:spPr>
      </p:sp>
      <p:sp>
        <p:nvSpPr>
          <p:cNvPr id="9" name="monthly-eyebrow"/>
          <p:cNvSpPr>
            <a:spLocks noGrp="1"/>
          </p:cNvSpPr>
          <p:nvPr/>
        </p:nvSpPr>
        <p:spPr>
          <a:xfrm>
            <a:off x="1352550" y="3667125"/>
            <a:ext cx="4953000" cy="247650"/>
          </a:xfrm>
          <a:prstGeom prst="rect">
            <a:avLst/>
          </a:prstGeom>
          <a:noFill/>
          <a:ln w="0">
            <a:noFill/>
            <a:prstDash val="solid"/>
          </a:ln>
        </p:spPr>
        <p:txBody>
          <a:bodyPr anchor="t"/>
          <a:lstStyle/>
          <a:p>
            <a:pPr algn="l">
              <a:buNone/>
              <a:defRPr sz="1350" b="1">
                <a:solidFill>
                  <a:srgbClr val="123F36"/>
                </a:solidFill>
              </a:defRPr>
            </a:pPr>
            <a:r>
              <a:rPr sz="1350" b="1">
                <a:solidFill>
                  <a:srgbClr val="123F36"/>
                </a:solidFill>
              </a:rPr>
              <a:t>MONTHLY MVP OPERATING RANGE</a:t>
            </a:r>
            <a:endParaRPr sz="1350" b="1">
              <a:solidFill>
                <a:srgbClr val="123F36"/>
              </a:solidFill>
            </a:endParaRPr>
          </a:p>
        </p:txBody>
      </p:sp>
      <p:sp>
        <p:nvSpPr>
          <p:cNvPr id="10" name="monthly-total"/>
          <p:cNvSpPr>
            <a:spLocks noGrp="1"/>
          </p:cNvSpPr>
          <p:nvPr/>
        </p:nvSpPr>
        <p:spPr>
          <a:xfrm>
            <a:off x="1352550" y="4000500"/>
            <a:ext cx="6000750" cy="552450"/>
          </a:xfrm>
          <a:prstGeom prst="rect">
            <a:avLst/>
          </a:prstGeom>
          <a:noFill/>
          <a:ln w="0">
            <a:noFill/>
            <a:prstDash val="solid"/>
          </a:ln>
        </p:spPr>
        <p:txBody>
          <a:bodyPr anchor="t"/>
          <a:lstStyle/>
          <a:p>
            <a:pPr algn="l">
              <a:buNone/>
              <a:defRPr sz="3375" b="1">
                <a:solidFill>
                  <a:srgbClr val="0A2D27"/>
                </a:solidFill>
              </a:defRPr>
            </a:pPr>
            <a:r>
              <a:rPr sz="3375" b="1">
                <a:solidFill>
                  <a:srgbClr val="0A2D27"/>
                </a:solidFill>
              </a:rPr>
              <a:t>₹1,000–₹10,000</a:t>
            </a:r>
            <a:endParaRPr sz="3375" b="1">
              <a:solidFill>
                <a:srgbClr val="0A2D27"/>
              </a:solidFill>
            </a:endParaRPr>
          </a:p>
        </p:txBody>
      </p:sp>
      <p:sp>
        <p:nvSpPr>
          <p:cNvPr id="11" name="monthly-total-unit"/>
          <p:cNvSpPr>
            <a:spLocks noGrp="1"/>
          </p:cNvSpPr>
          <p:nvPr/>
        </p:nvSpPr>
        <p:spPr>
          <a:xfrm>
            <a:off x="7458075" y="4200525"/>
            <a:ext cx="1714500" cy="266700"/>
          </a:xfrm>
          <a:prstGeom prst="rect">
            <a:avLst/>
          </a:prstGeom>
          <a:noFill/>
          <a:ln w="0">
            <a:noFill/>
            <a:prstDash val="solid"/>
          </a:ln>
        </p:spPr>
        <p:txBody>
          <a:bodyPr anchor="t"/>
          <a:lstStyle/>
          <a:p>
            <a:pPr algn="l">
              <a:buNone/>
              <a:defRPr sz="1425" b="0">
                <a:solidFill>
                  <a:srgbClr val="596560"/>
                </a:solidFill>
              </a:defRPr>
            </a:pPr>
            <a:r>
              <a:rPr sz="1425" b="0">
                <a:solidFill>
                  <a:srgbClr val="596560"/>
                </a:solidFill>
              </a:rPr>
              <a:t>per month</a:t>
            </a:r>
            <a:endParaRPr sz="1425" b="0">
              <a:solidFill>
                <a:srgbClr val="596560"/>
              </a:solidFill>
            </a:endParaRPr>
          </a:p>
        </p:txBody>
      </p:sp>
      <p:sp>
        <p:nvSpPr>
          <p:cNvPr id="12" name="planning-range-label"/>
          <p:cNvSpPr>
            <a:spLocks noGrp="1"/>
          </p:cNvSpPr>
          <p:nvPr/>
        </p:nvSpPr>
        <p:spPr>
          <a:xfrm>
            <a:off x="7810500" y="3714750"/>
            <a:ext cx="3000375" cy="228600"/>
          </a:xfrm>
          <a:prstGeom prst="rect">
            <a:avLst/>
          </a:prstGeom>
          <a:noFill/>
          <a:ln w="0">
            <a:noFill/>
            <a:prstDash val="solid"/>
          </a:ln>
        </p:spPr>
        <p:txBody>
          <a:bodyPr anchor="t"/>
          <a:lstStyle/>
          <a:p>
            <a:pPr algn="r">
              <a:buNone/>
              <a:defRPr sz="1200" b="0">
                <a:solidFill>
                  <a:srgbClr val="596560"/>
                </a:solidFill>
              </a:defRPr>
            </a:pPr>
            <a:r>
              <a:rPr sz="1200" b="0">
                <a:solidFill>
                  <a:srgbClr val="596560"/>
                </a:solidFill>
              </a:rPr>
              <a:t>Planning range by cost driver</a:t>
            </a:r>
            <a:endParaRPr sz="1200" b="0">
              <a:solidFill>
                <a:srgbClr val="596560"/>
              </a:solidFill>
            </a:endParaRPr>
          </a:p>
        </p:txBody>
      </p:sp>
      <p:sp>
        <p:nvSpPr>
          <p:cNvPr id="13" name="cost-label-0"/>
          <p:cNvSpPr>
            <a:spLocks noGrp="1"/>
          </p:cNvSpPr>
          <p:nvPr/>
        </p:nvSpPr>
        <p:spPr>
          <a:xfrm>
            <a:off x="1352550" y="4857750"/>
            <a:ext cx="4476750" cy="266700"/>
          </a:xfrm>
          <a:prstGeom prst="rect">
            <a:avLst/>
          </a:prstGeom>
          <a:noFill/>
          <a:ln w="0">
            <a:noFill/>
            <a:prstDash val="solid"/>
          </a:ln>
        </p:spPr>
        <p:txBody>
          <a:bodyPr anchor="t"/>
          <a:lstStyle/>
          <a:p>
            <a:pPr algn="l">
              <a:buNone/>
              <a:defRPr sz="1350" b="1">
                <a:solidFill>
                  <a:srgbClr val="0A2D27"/>
                </a:solidFill>
              </a:defRPr>
            </a:pPr>
            <a:r>
              <a:rPr sz="1350" b="1">
                <a:solidFill>
                  <a:srgbClr val="0A2D27"/>
                </a:solidFill>
              </a:rPr>
              <a:t>LLM APIs — main variable</a:t>
            </a:r>
            <a:endParaRPr sz="1350" b="1">
              <a:solidFill>
                <a:srgbClr val="0A2D27"/>
              </a:solidFill>
            </a:endParaRPr>
          </a:p>
        </p:txBody>
      </p:sp>
      <p:sp>
        <p:nvSpPr>
          <p:cNvPr id="14" name="cost-track-0"/>
          <p:cNvSpPr>
            <a:spLocks noGrp="1"/>
          </p:cNvSpPr>
          <p:nvPr/>
        </p:nvSpPr>
        <p:spPr>
          <a:xfrm>
            <a:off x="5905500" y="4924425"/>
            <a:ext cx="3000375" cy="133350"/>
          </a:xfrm>
          <a:prstGeom prst="rect">
            <a:avLst/>
          </a:prstGeom>
          <a:solidFill>
            <a:srgbClr val="FFFFFF"/>
          </a:solidFill>
          <a:ln w="9525">
            <a:solidFill>
              <a:srgbClr val="CFD9D4"/>
            </a:solidFill>
            <a:prstDash val="solid"/>
          </a:ln>
        </p:spPr>
      </p:sp>
      <p:sp>
        <p:nvSpPr>
          <p:cNvPr id="15" name="cost-bar-0"/>
          <p:cNvSpPr>
            <a:spLocks noGrp="1"/>
          </p:cNvSpPr>
          <p:nvPr/>
        </p:nvSpPr>
        <p:spPr>
          <a:xfrm>
            <a:off x="5905500" y="4924425"/>
            <a:ext cx="3000375" cy="133350"/>
          </a:xfrm>
          <a:prstGeom prst="rect">
            <a:avLst/>
          </a:prstGeom>
          <a:solidFill>
            <a:srgbClr val="F2B600"/>
          </a:solidFill>
          <a:ln w="0">
            <a:noFill/>
            <a:prstDash val="solid"/>
          </a:ln>
        </p:spPr>
      </p:sp>
      <p:sp>
        <p:nvSpPr>
          <p:cNvPr id="16" name="cost-amount-0"/>
          <p:cNvSpPr>
            <a:spLocks noGrp="1"/>
          </p:cNvSpPr>
          <p:nvPr/>
        </p:nvSpPr>
        <p:spPr>
          <a:xfrm>
            <a:off x="9096375" y="4848225"/>
            <a:ext cx="1809750" cy="285750"/>
          </a:xfrm>
          <a:prstGeom prst="rect">
            <a:avLst/>
          </a:prstGeom>
          <a:noFill/>
          <a:ln w="0">
            <a:noFill/>
            <a:prstDash val="solid"/>
          </a:ln>
        </p:spPr>
        <p:txBody>
          <a:bodyPr anchor="t"/>
          <a:lstStyle/>
          <a:p>
            <a:pPr algn="r">
              <a:buNone/>
              <a:defRPr sz="1350" b="1">
                <a:solidFill>
                  <a:srgbClr val="0A2D27"/>
                </a:solidFill>
              </a:defRPr>
            </a:pPr>
            <a:r>
              <a:rPr sz="1350" b="1">
                <a:solidFill>
                  <a:srgbClr val="0A2D27"/>
                </a:solidFill>
              </a:rPr>
              <a:t>₹500–₹5,000</a:t>
            </a:r>
            <a:endParaRPr sz="1350" b="1">
              <a:solidFill>
                <a:srgbClr val="0A2D27"/>
              </a:solidFill>
            </a:endParaRPr>
          </a:p>
        </p:txBody>
      </p:sp>
      <p:sp>
        <p:nvSpPr>
          <p:cNvPr id="17" name="cost-label-1"/>
          <p:cNvSpPr>
            <a:spLocks noGrp="1"/>
          </p:cNvSpPr>
          <p:nvPr/>
        </p:nvSpPr>
        <p:spPr>
          <a:xfrm>
            <a:off x="1352550" y="5391150"/>
            <a:ext cx="4476750" cy="266700"/>
          </a:xfrm>
          <a:prstGeom prst="rect">
            <a:avLst/>
          </a:prstGeom>
          <a:noFill/>
          <a:ln w="0">
            <a:noFill/>
            <a:prstDash val="solid"/>
          </a:ln>
        </p:spPr>
        <p:txBody>
          <a:bodyPr anchor="t"/>
          <a:lstStyle/>
          <a:p>
            <a:pPr algn="l">
              <a:buNone/>
              <a:defRPr sz="1350" b="0">
                <a:solidFill>
                  <a:srgbClr val="17201E"/>
                </a:solidFill>
              </a:defRPr>
            </a:pPr>
            <a:r>
              <a:rPr sz="1350" b="0">
                <a:solidFill>
                  <a:srgbClr val="17201E"/>
                </a:solidFill>
              </a:rPr>
              <a:t>Sandbox compute</a:t>
            </a:r>
            <a:endParaRPr sz="1350" b="0">
              <a:solidFill>
                <a:srgbClr val="17201E"/>
              </a:solidFill>
            </a:endParaRPr>
          </a:p>
        </p:txBody>
      </p:sp>
      <p:sp>
        <p:nvSpPr>
          <p:cNvPr id="18" name="cost-track-1"/>
          <p:cNvSpPr>
            <a:spLocks noGrp="1"/>
          </p:cNvSpPr>
          <p:nvPr/>
        </p:nvSpPr>
        <p:spPr>
          <a:xfrm>
            <a:off x="5905500" y="5457825"/>
            <a:ext cx="3000375" cy="133350"/>
          </a:xfrm>
          <a:prstGeom prst="rect">
            <a:avLst/>
          </a:prstGeom>
          <a:solidFill>
            <a:srgbClr val="FFFFFF"/>
          </a:solidFill>
          <a:ln w="9525">
            <a:solidFill>
              <a:srgbClr val="CFD9D4"/>
            </a:solidFill>
            <a:prstDash val="solid"/>
          </a:ln>
        </p:spPr>
      </p:sp>
      <p:sp>
        <p:nvSpPr>
          <p:cNvPr id="19" name="cost-bar-1"/>
          <p:cNvSpPr>
            <a:spLocks noGrp="1"/>
          </p:cNvSpPr>
          <p:nvPr/>
        </p:nvSpPr>
        <p:spPr>
          <a:xfrm>
            <a:off x="5905500" y="5457825"/>
            <a:ext cx="1809750" cy="133350"/>
          </a:xfrm>
          <a:prstGeom prst="rect">
            <a:avLst/>
          </a:prstGeom>
          <a:solidFill>
            <a:srgbClr val="397A63"/>
          </a:solidFill>
          <a:ln w="0">
            <a:noFill/>
            <a:prstDash val="solid"/>
          </a:ln>
        </p:spPr>
      </p:sp>
      <p:sp>
        <p:nvSpPr>
          <p:cNvPr id="20" name="cost-amount-1"/>
          <p:cNvSpPr>
            <a:spLocks noGrp="1"/>
          </p:cNvSpPr>
          <p:nvPr/>
        </p:nvSpPr>
        <p:spPr>
          <a:xfrm>
            <a:off x="9096375" y="5381625"/>
            <a:ext cx="1809750" cy="285750"/>
          </a:xfrm>
          <a:prstGeom prst="rect">
            <a:avLst/>
          </a:prstGeom>
          <a:noFill/>
          <a:ln w="0">
            <a:noFill/>
            <a:prstDash val="solid"/>
          </a:ln>
        </p:spPr>
        <p:txBody>
          <a:bodyPr anchor="t"/>
          <a:lstStyle/>
          <a:p>
            <a:pPr algn="r">
              <a:buNone/>
              <a:defRPr sz="1350" b="1">
                <a:solidFill>
                  <a:srgbClr val="123F36"/>
                </a:solidFill>
              </a:defRPr>
            </a:pPr>
            <a:r>
              <a:rPr sz="1350" b="1">
                <a:solidFill>
                  <a:srgbClr val="123F36"/>
                </a:solidFill>
              </a:rPr>
              <a:t>₹500–₹2,500</a:t>
            </a:r>
            <a:endParaRPr sz="1350" b="1">
              <a:solidFill>
                <a:srgbClr val="123F36"/>
              </a:solidFill>
            </a:endParaRPr>
          </a:p>
        </p:txBody>
      </p:sp>
      <p:sp>
        <p:nvSpPr>
          <p:cNvPr id="21" name="cost-label-2"/>
          <p:cNvSpPr>
            <a:spLocks noGrp="1"/>
          </p:cNvSpPr>
          <p:nvPr/>
        </p:nvSpPr>
        <p:spPr>
          <a:xfrm>
            <a:off x="1352550" y="5924550"/>
            <a:ext cx="4476750" cy="266700"/>
          </a:xfrm>
          <a:prstGeom prst="rect">
            <a:avLst/>
          </a:prstGeom>
          <a:noFill/>
          <a:ln w="0">
            <a:noFill/>
            <a:prstDash val="solid"/>
          </a:ln>
        </p:spPr>
        <p:txBody>
          <a:bodyPr anchor="t"/>
          <a:lstStyle/>
          <a:p>
            <a:pPr algn="l">
              <a:buNone/>
              <a:defRPr sz="1350" b="0">
                <a:solidFill>
                  <a:srgbClr val="17201E"/>
                </a:solidFill>
              </a:defRPr>
            </a:pPr>
            <a:r>
              <a:rPr sz="1350" b="0">
                <a:solidFill>
                  <a:srgbClr val="17201E"/>
                </a:solidFill>
              </a:rPr>
              <a:t>Search &amp; retrieval APIs</a:t>
            </a:r>
            <a:endParaRPr sz="1350" b="0">
              <a:solidFill>
                <a:srgbClr val="17201E"/>
              </a:solidFill>
            </a:endParaRPr>
          </a:p>
        </p:txBody>
      </p:sp>
      <p:sp>
        <p:nvSpPr>
          <p:cNvPr id="22" name="cost-track-2"/>
          <p:cNvSpPr>
            <a:spLocks noGrp="1"/>
          </p:cNvSpPr>
          <p:nvPr/>
        </p:nvSpPr>
        <p:spPr>
          <a:xfrm>
            <a:off x="5905500" y="5991225"/>
            <a:ext cx="3000375" cy="133350"/>
          </a:xfrm>
          <a:prstGeom prst="rect">
            <a:avLst/>
          </a:prstGeom>
          <a:solidFill>
            <a:srgbClr val="FFFFFF"/>
          </a:solidFill>
          <a:ln w="9525">
            <a:solidFill>
              <a:srgbClr val="CFD9D4"/>
            </a:solidFill>
            <a:prstDash val="solid"/>
          </a:ln>
        </p:spPr>
      </p:sp>
      <p:sp>
        <p:nvSpPr>
          <p:cNvPr id="23" name="cost-bar-2"/>
          <p:cNvSpPr>
            <a:spLocks noGrp="1"/>
          </p:cNvSpPr>
          <p:nvPr/>
        </p:nvSpPr>
        <p:spPr>
          <a:xfrm>
            <a:off x="5905500" y="5991225"/>
            <a:ext cx="1428750" cy="133350"/>
          </a:xfrm>
          <a:prstGeom prst="rect">
            <a:avLst/>
          </a:prstGeom>
          <a:solidFill>
            <a:srgbClr val="397A63"/>
          </a:solidFill>
          <a:ln w="0">
            <a:noFill/>
            <a:prstDash val="solid"/>
          </a:ln>
        </p:spPr>
      </p:sp>
      <p:sp>
        <p:nvSpPr>
          <p:cNvPr id="24" name="cost-amount-2"/>
          <p:cNvSpPr>
            <a:spLocks noGrp="1"/>
          </p:cNvSpPr>
          <p:nvPr/>
        </p:nvSpPr>
        <p:spPr>
          <a:xfrm>
            <a:off x="9096375" y="5915025"/>
            <a:ext cx="1809750" cy="285750"/>
          </a:xfrm>
          <a:prstGeom prst="rect">
            <a:avLst/>
          </a:prstGeom>
          <a:noFill/>
          <a:ln w="0">
            <a:noFill/>
            <a:prstDash val="solid"/>
          </a:ln>
        </p:spPr>
        <p:txBody>
          <a:bodyPr anchor="t"/>
          <a:lstStyle/>
          <a:p>
            <a:pPr algn="r">
              <a:buNone/>
              <a:defRPr sz="1350" b="1">
                <a:solidFill>
                  <a:srgbClr val="123F36"/>
                </a:solidFill>
              </a:defRPr>
            </a:pPr>
            <a:r>
              <a:rPr sz="1350" b="1">
                <a:solidFill>
                  <a:srgbClr val="123F36"/>
                </a:solidFill>
              </a:rPr>
              <a:t>₹0–₹2,000</a:t>
            </a:r>
            <a:endParaRPr sz="1350" b="1">
              <a:solidFill>
                <a:srgbClr val="123F36"/>
              </a:solidFill>
            </a:endParaRPr>
          </a:p>
        </p:txBody>
      </p:sp>
      <p:sp>
        <p:nvSpPr>
          <p:cNvPr id="25" name="cost-label-3"/>
          <p:cNvSpPr>
            <a:spLocks noGrp="1"/>
          </p:cNvSpPr>
          <p:nvPr/>
        </p:nvSpPr>
        <p:spPr>
          <a:xfrm>
            <a:off x="1352550" y="6457950"/>
            <a:ext cx="4476750" cy="266700"/>
          </a:xfrm>
          <a:prstGeom prst="rect">
            <a:avLst/>
          </a:prstGeom>
          <a:noFill/>
          <a:ln w="0">
            <a:noFill/>
            <a:prstDash val="solid"/>
          </a:ln>
        </p:spPr>
        <p:txBody>
          <a:bodyPr anchor="t"/>
          <a:lstStyle/>
          <a:p>
            <a:pPr algn="l">
              <a:buNone/>
              <a:defRPr sz="1350" b="0">
                <a:solidFill>
                  <a:srgbClr val="17201E"/>
                </a:solidFill>
              </a:defRPr>
            </a:pPr>
            <a:r>
              <a:rPr sz="1350" b="0">
                <a:solidFill>
                  <a:srgbClr val="17201E"/>
                </a:solidFill>
              </a:rPr>
              <a:t>Database, storage &amp; monitoring</a:t>
            </a:r>
            <a:endParaRPr sz="1350" b="0">
              <a:solidFill>
                <a:srgbClr val="17201E"/>
              </a:solidFill>
            </a:endParaRPr>
          </a:p>
        </p:txBody>
      </p:sp>
      <p:sp>
        <p:nvSpPr>
          <p:cNvPr id="26" name="cost-track-3"/>
          <p:cNvSpPr>
            <a:spLocks noGrp="1"/>
          </p:cNvSpPr>
          <p:nvPr/>
        </p:nvSpPr>
        <p:spPr>
          <a:xfrm>
            <a:off x="5905500" y="6524625"/>
            <a:ext cx="3000375" cy="133350"/>
          </a:xfrm>
          <a:prstGeom prst="rect">
            <a:avLst/>
          </a:prstGeom>
          <a:solidFill>
            <a:srgbClr val="FFFFFF"/>
          </a:solidFill>
          <a:ln w="9525">
            <a:solidFill>
              <a:srgbClr val="CFD9D4"/>
            </a:solidFill>
            <a:prstDash val="solid"/>
          </a:ln>
        </p:spPr>
      </p:sp>
      <p:sp>
        <p:nvSpPr>
          <p:cNvPr id="27" name="cost-bar-3"/>
          <p:cNvSpPr>
            <a:spLocks noGrp="1"/>
          </p:cNvSpPr>
          <p:nvPr/>
        </p:nvSpPr>
        <p:spPr>
          <a:xfrm>
            <a:off x="5905500" y="6524625"/>
            <a:ext cx="1428750" cy="133350"/>
          </a:xfrm>
          <a:prstGeom prst="rect">
            <a:avLst/>
          </a:prstGeom>
          <a:solidFill>
            <a:srgbClr val="397A63"/>
          </a:solidFill>
          <a:ln w="0">
            <a:noFill/>
            <a:prstDash val="solid"/>
          </a:ln>
        </p:spPr>
      </p:sp>
      <p:sp>
        <p:nvSpPr>
          <p:cNvPr id="28" name="cost-amount-3"/>
          <p:cNvSpPr>
            <a:spLocks noGrp="1"/>
          </p:cNvSpPr>
          <p:nvPr/>
        </p:nvSpPr>
        <p:spPr>
          <a:xfrm>
            <a:off x="9096375" y="6448425"/>
            <a:ext cx="1809750" cy="285750"/>
          </a:xfrm>
          <a:prstGeom prst="rect">
            <a:avLst/>
          </a:prstGeom>
          <a:noFill/>
          <a:ln w="0">
            <a:noFill/>
            <a:prstDash val="solid"/>
          </a:ln>
        </p:spPr>
        <p:txBody>
          <a:bodyPr anchor="t"/>
          <a:lstStyle/>
          <a:p>
            <a:pPr algn="r">
              <a:buNone/>
              <a:defRPr sz="1350" b="1">
                <a:solidFill>
                  <a:srgbClr val="123F36"/>
                </a:solidFill>
              </a:defRPr>
            </a:pPr>
            <a:r>
              <a:rPr sz="1350" b="1">
                <a:solidFill>
                  <a:srgbClr val="123F36"/>
                </a:solidFill>
              </a:rPr>
              <a:t>₹0–₹2,000</a:t>
            </a:r>
            <a:endParaRPr sz="1350" b="1">
              <a:solidFill>
                <a:srgbClr val="123F36"/>
              </a:solidFill>
            </a:endParaRPr>
          </a:p>
        </p:txBody>
      </p:sp>
      <p:sp>
        <p:nvSpPr>
          <p:cNvPr id="29" name="cost-label-4"/>
          <p:cNvSpPr>
            <a:spLocks noGrp="1"/>
          </p:cNvSpPr>
          <p:nvPr/>
        </p:nvSpPr>
        <p:spPr>
          <a:xfrm>
            <a:off x="1352550" y="6991350"/>
            <a:ext cx="4476750" cy="266700"/>
          </a:xfrm>
          <a:prstGeom prst="rect">
            <a:avLst/>
          </a:prstGeom>
          <a:noFill/>
          <a:ln w="0">
            <a:noFill/>
            <a:prstDash val="solid"/>
          </a:ln>
        </p:spPr>
        <p:txBody>
          <a:bodyPr anchor="t"/>
          <a:lstStyle/>
          <a:p>
            <a:pPr algn="l">
              <a:buNone/>
              <a:defRPr sz="1350" b="0">
                <a:solidFill>
                  <a:srgbClr val="17201E"/>
                </a:solidFill>
              </a:defRPr>
            </a:pPr>
            <a:r>
              <a:rPr sz="1350" b="0">
                <a:solidFill>
                  <a:srgbClr val="17201E"/>
                </a:solidFill>
              </a:rPr>
              <a:t>Domain &amp; deployment</a:t>
            </a:r>
            <a:endParaRPr sz="1350" b="0">
              <a:solidFill>
                <a:srgbClr val="17201E"/>
              </a:solidFill>
            </a:endParaRPr>
          </a:p>
        </p:txBody>
      </p:sp>
      <p:sp>
        <p:nvSpPr>
          <p:cNvPr id="30" name="cost-track-4"/>
          <p:cNvSpPr>
            <a:spLocks noGrp="1"/>
          </p:cNvSpPr>
          <p:nvPr/>
        </p:nvSpPr>
        <p:spPr>
          <a:xfrm>
            <a:off x="5905500" y="7058025"/>
            <a:ext cx="3000375" cy="133350"/>
          </a:xfrm>
          <a:prstGeom prst="rect">
            <a:avLst/>
          </a:prstGeom>
          <a:solidFill>
            <a:srgbClr val="FFFFFF"/>
          </a:solidFill>
          <a:ln w="9525">
            <a:solidFill>
              <a:srgbClr val="CFD9D4"/>
            </a:solidFill>
            <a:prstDash val="solid"/>
          </a:ln>
        </p:spPr>
      </p:sp>
      <p:sp>
        <p:nvSpPr>
          <p:cNvPr id="31" name="cost-bar-4"/>
          <p:cNvSpPr>
            <a:spLocks noGrp="1"/>
          </p:cNvSpPr>
          <p:nvPr/>
        </p:nvSpPr>
        <p:spPr>
          <a:xfrm>
            <a:off x="5905500" y="7058025"/>
            <a:ext cx="904875" cy="133350"/>
          </a:xfrm>
          <a:prstGeom prst="rect">
            <a:avLst/>
          </a:prstGeom>
          <a:solidFill>
            <a:srgbClr val="397A63"/>
          </a:solidFill>
          <a:ln w="0">
            <a:noFill/>
            <a:prstDash val="solid"/>
          </a:ln>
        </p:spPr>
      </p:sp>
      <p:sp>
        <p:nvSpPr>
          <p:cNvPr id="32" name="cost-amount-4"/>
          <p:cNvSpPr>
            <a:spLocks noGrp="1"/>
          </p:cNvSpPr>
          <p:nvPr/>
        </p:nvSpPr>
        <p:spPr>
          <a:xfrm>
            <a:off x="9096375" y="6981825"/>
            <a:ext cx="1809750" cy="285750"/>
          </a:xfrm>
          <a:prstGeom prst="rect">
            <a:avLst/>
          </a:prstGeom>
          <a:noFill/>
          <a:ln w="0">
            <a:noFill/>
            <a:prstDash val="solid"/>
          </a:ln>
        </p:spPr>
        <p:txBody>
          <a:bodyPr anchor="t"/>
          <a:lstStyle/>
          <a:p>
            <a:pPr algn="r">
              <a:buNone/>
              <a:defRPr sz="1350" b="1">
                <a:solidFill>
                  <a:srgbClr val="123F36"/>
                </a:solidFill>
              </a:defRPr>
            </a:pPr>
            <a:r>
              <a:rPr sz="1350" b="1">
                <a:solidFill>
                  <a:srgbClr val="123F36"/>
                </a:solidFill>
              </a:rPr>
              <a:t>₹1K–₹3K / year</a:t>
            </a:r>
            <a:endParaRPr sz="1350" b="1">
              <a:solidFill>
                <a:srgbClr val="123F36"/>
              </a:solidFill>
            </a:endParaRPr>
          </a:p>
        </p:txBody>
      </p:sp>
      <p:sp>
        <p:nvSpPr>
          <p:cNvPr id="33" name="scale-summary"/>
          <p:cNvSpPr>
            <a:spLocks noGrp="1"/>
          </p:cNvSpPr>
          <p:nvPr/>
        </p:nvSpPr>
        <p:spPr>
          <a:xfrm>
            <a:off x="11763375" y="3429000"/>
            <a:ext cx="5476875" cy="3876675"/>
          </a:xfrm>
          <a:prstGeom prst="roundRect">
            <a:avLst>
              <a:gd name="adj" fmla="val 2948"/>
            </a:avLst>
          </a:prstGeom>
          <a:solidFill>
            <a:srgbClr val="0A2D27"/>
          </a:solidFill>
          <a:ln w="0">
            <a:solidFill>
              <a:srgbClr val="0A2D27"/>
            </a:solidFill>
            <a:prstDash val="solid"/>
          </a:ln>
        </p:spPr>
      </p:sp>
      <p:sp>
        <p:nvSpPr>
          <p:cNvPr id="34" name="build-label"/>
          <p:cNvSpPr>
            <a:spLocks noGrp="1"/>
          </p:cNvSpPr>
          <p:nvPr/>
        </p:nvSpPr>
        <p:spPr>
          <a:xfrm>
            <a:off x="12115800" y="3733800"/>
            <a:ext cx="4762500" cy="247650"/>
          </a:xfrm>
          <a:prstGeom prst="rect">
            <a:avLst/>
          </a:prstGeom>
          <a:noFill/>
          <a:ln w="0">
            <a:noFill/>
            <a:prstDash val="solid"/>
          </a:ln>
        </p:spPr>
        <p:txBody>
          <a:bodyPr anchor="t"/>
          <a:lstStyle/>
          <a:p>
            <a:pPr algn="ctr">
              <a:buNone/>
              <a:defRPr sz="1350" b="1">
                <a:solidFill>
                  <a:srgbClr val="FFD75A"/>
                </a:solidFill>
              </a:defRPr>
            </a:pPr>
            <a:r>
              <a:rPr sz="1350" b="1">
                <a:solidFill>
                  <a:srgbClr val="FFD75A"/>
                </a:solidFill>
              </a:rPr>
              <a:t>HACKATHON BUILD</a:t>
            </a:r>
            <a:endParaRPr sz="1350" b="1">
              <a:solidFill>
                <a:srgbClr val="FFD75A"/>
              </a:solidFill>
            </a:endParaRPr>
          </a:p>
        </p:txBody>
      </p:sp>
      <p:sp>
        <p:nvSpPr>
          <p:cNvPr id="35" name="build-zero"/>
          <p:cNvSpPr>
            <a:spLocks noGrp="1"/>
          </p:cNvSpPr>
          <p:nvPr/>
        </p:nvSpPr>
        <p:spPr>
          <a:xfrm>
            <a:off x="12115800" y="4048125"/>
            <a:ext cx="4762500" cy="628650"/>
          </a:xfrm>
          <a:prstGeom prst="rect">
            <a:avLst/>
          </a:prstGeom>
          <a:noFill/>
          <a:ln w="0">
            <a:noFill/>
            <a:prstDash val="solid"/>
          </a:ln>
        </p:spPr>
        <p:txBody>
          <a:bodyPr anchor="t"/>
          <a:lstStyle/>
          <a:p>
            <a:pPr algn="ctr">
              <a:buNone/>
              <a:defRPr sz="4050" b="1">
                <a:solidFill>
                  <a:srgbClr val="FFFFFF"/>
                </a:solidFill>
              </a:defRPr>
            </a:pPr>
            <a:r>
              <a:rPr sz="4050" b="1">
                <a:solidFill>
                  <a:srgbClr val="FFFFFF"/>
                </a:solidFill>
              </a:rPr>
              <a:t>₹0</a:t>
            </a:r>
            <a:endParaRPr sz="4050" b="1">
              <a:solidFill>
                <a:srgbClr val="FFFFFF"/>
              </a:solidFill>
            </a:endParaRPr>
          </a:p>
        </p:txBody>
      </p:sp>
      <p:sp>
        <p:nvSpPr>
          <p:cNvPr id="36" name="build-note"/>
          <p:cNvSpPr>
            <a:spLocks noGrp="1"/>
          </p:cNvSpPr>
          <p:nvPr/>
        </p:nvSpPr>
        <p:spPr>
          <a:xfrm>
            <a:off x="12115800" y="4705350"/>
            <a:ext cx="4762500" cy="533400"/>
          </a:xfrm>
          <a:prstGeom prst="rect">
            <a:avLst/>
          </a:prstGeom>
          <a:noFill/>
          <a:ln w="0">
            <a:noFill/>
            <a:prstDash val="solid"/>
          </a:ln>
        </p:spPr>
        <p:txBody>
          <a:bodyPr anchor="t"/>
          <a:lstStyle/>
          <a:p>
            <a:pPr algn="ctr">
              <a:buNone/>
              <a:defRPr sz="1275" b="0">
                <a:solidFill>
                  <a:srgbClr val="FFFFFF"/>
                </a:solidFill>
              </a:defRPr>
            </a:pPr>
            <a:r>
              <a:rPr sz="1275" b="0">
                <a:solidFill>
                  <a:srgbClr val="FFFFFF"/>
                </a:solidFill>
              </a:rPr>
              <a:t>direct development and licence cost</a:t>
            </a:r>
            <a:endParaRPr sz="1275" b="0">
              <a:solidFill>
                <a:srgbClr val="FFFFFF"/>
              </a:solidFill>
            </a:endParaRPr>
          </a:p>
          <a:p>
            <a:pPr algn="ctr">
              <a:buNone/>
              <a:defRPr sz="1275" b="0">
                <a:solidFill>
                  <a:srgbClr val="FFFFFF"/>
                </a:solidFill>
              </a:defRPr>
            </a:pPr>
            <a:r>
              <a:rPr sz="1275" b="0">
                <a:solidFill>
                  <a:srgbClr val="FFFFFF"/>
                </a:solidFill>
              </a:rPr>
              <a:t>(team-built + open source)</a:t>
            </a:r>
            <a:endParaRPr sz="1275" b="0">
              <a:solidFill>
                <a:srgbClr val="FFFFFF"/>
              </a:solidFill>
            </a:endParaRPr>
          </a:p>
        </p:txBody>
      </p:sp>
      <p:sp>
        <p:nvSpPr>
          <p:cNvPr id="37" name="scale-rule"/>
          <p:cNvSpPr>
            <a:spLocks noGrp="1"/>
          </p:cNvSpPr>
          <p:nvPr/>
        </p:nvSpPr>
        <p:spPr>
          <a:xfrm>
            <a:off x="12334875" y="5429250"/>
            <a:ext cx="4333875" cy="19050"/>
          </a:xfrm>
          <a:prstGeom prst="rect">
            <a:avLst/>
          </a:prstGeom>
          <a:solidFill>
            <a:srgbClr val="397A63"/>
          </a:solidFill>
          <a:ln w="0">
            <a:noFill/>
            <a:prstDash val="solid"/>
          </a:ln>
        </p:spPr>
      </p:sp>
      <p:sp>
        <p:nvSpPr>
          <p:cNvPr id="38" name="production-label"/>
          <p:cNvSpPr>
            <a:spLocks noGrp="1"/>
          </p:cNvSpPr>
          <p:nvPr/>
        </p:nvSpPr>
        <p:spPr>
          <a:xfrm>
            <a:off x="12115800" y="5695950"/>
            <a:ext cx="4762500" cy="247650"/>
          </a:xfrm>
          <a:prstGeom prst="rect">
            <a:avLst/>
          </a:prstGeom>
          <a:noFill/>
          <a:ln w="0">
            <a:noFill/>
            <a:prstDash val="solid"/>
          </a:ln>
        </p:spPr>
        <p:txBody>
          <a:bodyPr anchor="t"/>
          <a:lstStyle/>
          <a:p>
            <a:pPr algn="ctr">
              <a:buNone/>
              <a:defRPr sz="1350" b="1">
                <a:solidFill>
                  <a:srgbClr val="FFD75A"/>
                </a:solidFill>
              </a:defRPr>
            </a:pPr>
            <a:r>
              <a:rPr sz="1350" b="1">
                <a:solidFill>
                  <a:srgbClr val="FFD75A"/>
                </a:solidFill>
              </a:rPr>
              <a:t>SMALL PRODUCTION</a:t>
            </a:r>
            <a:endParaRPr sz="1350" b="1">
              <a:solidFill>
                <a:srgbClr val="FFD75A"/>
              </a:solidFill>
            </a:endParaRPr>
          </a:p>
        </p:txBody>
      </p:sp>
      <p:sp>
        <p:nvSpPr>
          <p:cNvPr id="39" name="production-cost"/>
          <p:cNvSpPr>
            <a:spLocks noGrp="1"/>
          </p:cNvSpPr>
          <p:nvPr/>
        </p:nvSpPr>
        <p:spPr>
          <a:xfrm>
            <a:off x="12115800" y="6019800"/>
            <a:ext cx="4762500" cy="552450"/>
          </a:xfrm>
          <a:prstGeom prst="rect">
            <a:avLst/>
          </a:prstGeom>
          <a:noFill/>
          <a:ln w="0">
            <a:noFill/>
            <a:prstDash val="solid"/>
          </a:ln>
        </p:spPr>
        <p:txBody>
          <a:bodyPr anchor="t"/>
          <a:lstStyle/>
          <a:p>
            <a:pPr algn="ctr">
              <a:buNone/>
              <a:defRPr sz="3225" b="1">
                <a:solidFill>
                  <a:srgbClr val="FFFFFF"/>
                </a:solidFill>
              </a:defRPr>
            </a:pPr>
            <a:r>
              <a:rPr sz="3225" b="1">
                <a:solidFill>
                  <a:srgbClr val="FFFFFF"/>
                </a:solidFill>
              </a:rPr>
              <a:t>₹15K–₹60K</a:t>
            </a:r>
            <a:endParaRPr sz="3225" b="1">
              <a:solidFill>
                <a:srgbClr val="FFFFFF"/>
              </a:solidFill>
            </a:endParaRPr>
          </a:p>
        </p:txBody>
      </p:sp>
      <p:sp>
        <p:nvSpPr>
          <p:cNvPr id="40" name="production-unit"/>
          <p:cNvSpPr>
            <a:spLocks noGrp="1"/>
          </p:cNvSpPr>
          <p:nvPr/>
        </p:nvSpPr>
        <p:spPr>
          <a:xfrm>
            <a:off x="12115800" y="6667500"/>
            <a:ext cx="4762500" cy="285750"/>
          </a:xfrm>
          <a:prstGeom prst="rect">
            <a:avLst/>
          </a:prstGeom>
          <a:noFill/>
          <a:ln w="0">
            <a:noFill/>
            <a:prstDash val="solid"/>
          </a:ln>
        </p:spPr>
        <p:txBody>
          <a:bodyPr anchor="t"/>
          <a:lstStyle/>
          <a:p>
            <a:pPr algn="ctr">
              <a:buNone/>
              <a:defRPr sz="1200" b="0">
                <a:solidFill>
                  <a:srgbClr val="FFFFFF"/>
                </a:solidFill>
              </a:defRPr>
            </a:pPr>
            <a:r>
              <a:rPr sz="1200" b="0">
                <a:solidFill>
                  <a:srgbClr val="FFFFFF"/>
                </a:solidFill>
              </a:rPr>
              <a:t>per month • more users, tokens and compute</a:t>
            </a:r>
            <a:endParaRPr sz="1200" b="0">
              <a:solidFill>
                <a:srgbClr val="FFFFFF"/>
              </a:solidFill>
            </a:endParaRPr>
          </a:p>
        </p:txBody>
      </p:sp>
      <p:sp>
        <p:nvSpPr>
          <p:cNvPr id="41" name="controls-band"/>
          <p:cNvSpPr>
            <a:spLocks noGrp="1"/>
          </p:cNvSpPr>
          <p:nvPr/>
        </p:nvSpPr>
        <p:spPr>
          <a:xfrm>
            <a:off x="1066800" y="7658100"/>
            <a:ext cx="16173450" cy="1581150"/>
          </a:xfrm>
          <a:prstGeom prst="roundRect">
            <a:avLst>
              <a:gd name="adj" fmla="val 7229"/>
            </a:avLst>
          </a:prstGeom>
          <a:solidFill>
            <a:srgbClr val="F5F7F6"/>
          </a:solidFill>
          <a:ln w="9525">
            <a:solidFill>
              <a:srgbClr val="CFD9D4"/>
            </a:solidFill>
            <a:prstDash val="solid"/>
          </a:ln>
        </p:spPr>
      </p:sp>
      <p:sp>
        <p:nvSpPr>
          <p:cNvPr id="42" name="controls-heading"/>
          <p:cNvSpPr>
            <a:spLocks noGrp="1"/>
          </p:cNvSpPr>
          <p:nvPr/>
        </p:nvSpPr>
        <p:spPr>
          <a:xfrm>
            <a:off x="1352550" y="7896225"/>
            <a:ext cx="4953000" cy="266700"/>
          </a:xfrm>
          <a:prstGeom prst="rect">
            <a:avLst/>
          </a:prstGeom>
          <a:noFill/>
          <a:ln w="0">
            <a:noFill/>
            <a:prstDash val="solid"/>
          </a:ln>
        </p:spPr>
        <p:txBody>
          <a:bodyPr anchor="t"/>
          <a:lstStyle/>
          <a:p>
            <a:pPr algn="l">
              <a:buNone/>
              <a:defRPr sz="1425" b="1">
                <a:solidFill>
                  <a:srgbClr val="123F36"/>
                </a:solidFill>
              </a:defRPr>
            </a:pPr>
            <a:r>
              <a:rPr sz="1425" b="1">
                <a:solidFill>
                  <a:srgbClr val="123F36"/>
                </a:solidFill>
              </a:rPr>
              <a:t>COST CONTROLS BUILT INTO THE PLAN</a:t>
            </a:r>
            <a:endParaRPr sz="1425" b="1">
              <a:solidFill>
                <a:srgbClr val="123F36"/>
              </a:solidFill>
            </a:endParaRPr>
          </a:p>
        </p:txBody>
      </p:sp>
      <p:sp>
        <p:nvSpPr>
          <p:cNvPr id="43" name="control-dot-0"/>
          <p:cNvSpPr>
            <a:spLocks noGrp="1"/>
          </p:cNvSpPr>
          <p:nvPr/>
        </p:nvSpPr>
        <p:spPr>
          <a:xfrm>
            <a:off x="1352550" y="8391525"/>
            <a:ext cx="133350" cy="133350"/>
          </a:xfrm>
          <a:prstGeom prst="ellipse">
            <a:avLst/>
          </a:prstGeom>
          <a:solidFill>
            <a:srgbClr val="F2B600"/>
          </a:solidFill>
          <a:ln w="0">
            <a:noFill/>
            <a:prstDash val="solid"/>
          </a:ln>
        </p:spPr>
      </p:sp>
      <p:sp>
        <p:nvSpPr>
          <p:cNvPr id="44" name="control-title-0"/>
          <p:cNvSpPr>
            <a:spLocks noGrp="1"/>
          </p:cNvSpPr>
          <p:nvPr/>
        </p:nvSpPr>
        <p:spPr>
          <a:xfrm>
            <a:off x="1590675" y="8315325"/>
            <a:ext cx="3333750" cy="266700"/>
          </a:xfrm>
          <a:prstGeom prst="rect">
            <a:avLst/>
          </a:prstGeom>
          <a:noFill/>
          <a:ln w="0">
            <a:noFill/>
            <a:prstDash val="solid"/>
          </a:ln>
        </p:spPr>
        <p:txBody>
          <a:bodyPr anchor="t"/>
          <a:lstStyle/>
          <a:p>
            <a:pPr algn="l">
              <a:buNone/>
              <a:defRPr sz="1275" b="1">
                <a:solidFill>
                  <a:srgbClr val="0A2D27"/>
                </a:solidFill>
              </a:defRPr>
            </a:pPr>
            <a:r>
              <a:rPr sz="1275" b="1">
                <a:solidFill>
                  <a:srgbClr val="0A2D27"/>
                </a:solidFill>
              </a:rPr>
              <a:t>SMART MODEL ROUTING</a:t>
            </a:r>
            <a:endParaRPr sz="1275" b="1">
              <a:solidFill>
                <a:srgbClr val="0A2D27"/>
              </a:solidFill>
            </a:endParaRPr>
          </a:p>
        </p:txBody>
      </p:sp>
      <p:sp>
        <p:nvSpPr>
          <p:cNvPr id="45" name="control-copy-0"/>
          <p:cNvSpPr>
            <a:spLocks noGrp="1"/>
          </p:cNvSpPr>
          <p:nvPr/>
        </p:nvSpPr>
        <p:spPr>
          <a:xfrm>
            <a:off x="1590675" y="8620125"/>
            <a:ext cx="3333750" cy="381000"/>
          </a:xfrm>
          <a:prstGeom prst="rect">
            <a:avLst/>
          </a:prstGeom>
          <a:noFill/>
          <a:ln w="0">
            <a:noFill/>
            <a:prstDash val="solid"/>
          </a:ln>
        </p:spPr>
        <p:txBody>
          <a:bodyPr anchor="t"/>
          <a:lstStyle/>
          <a:p>
            <a:pPr algn="l">
              <a:buNone/>
              <a:defRPr sz="1125" b="0">
                <a:solidFill>
                  <a:srgbClr val="596560"/>
                </a:solidFill>
              </a:defRPr>
            </a:pPr>
            <a:r>
              <a:rPr sz="1125" b="0">
                <a:solidFill>
                  <a:srgbClr val="596560"/>
                </a:solidFill>
              </a:rPr>
              <a:t>Use premium models only for hard tasks</a:t>
            </a:r>
            <a:endParaRPr sz="1125" b="0">
              <a:solidFill>
                <a:srgbClr val="596560"/>
              </a:solidFill>
            </a:endParaRPr>
          </a:p>
        </p:txBody>
      </p:sp>
      <p:sp>
        <p:nvSpPr>
          <p:cNvPr id="46" name="control-dot-1"/>
          <p:cNvSpPr>
            <a:spLocks noGrp="1"/>
          </p:cNvSpPr>
          <p:nvPr/>
        </p:nvSpPr>
        <p:spPr>
          <a:xfrm>
            <a:off x="5238750" y="8391525"/>
            <a:ext cx="133350" cy="133350"/>
          </a:xfrm>
          <a:prstGeom prst="ellipse">
            <a:avLst/>
          </a:prstGeom>
          <a:solidFill>
            <a:srgbClr val="397A63"/>
          </a:solidFill>
          <a:ln w="0">
            <a:noFill/>
            <a:prstDash val="solid"/>
          </a:ln>
        </p:spPr>
      </p:sp>
      <p:sp>
        <p:nvSpPr>
          <p:cNvPr id="47" name="control-title-1"/>
          <p:cNvSpPr>
            <a:spLocks noGrp="1"/>
          </p:cNvSpPr>
          <p:nvPr/>
        </p:nvSpPr>
        <p:spPr>
          <a:xfrm>
            <a:off x="5476875" y="8315325"/>
            <a:ext cx="3333750" cy="266700"/>
          </a:xfrm>
          <a:prstGeom prst="rect">
            <a:avLst/>
          </a:prstGeom>
          <a:noFill/>
          <a:ln w="0">
            <a:noFill/>
            <a:prstDash val="solid"/>
          </a:ln>
        </p:spPr>
        <p:txBody>
          <a:bodyPr anchor="t"/>
          <a:lstStyle/>
          <a:p>
            <a:pPr algn="l">
              <a:buNone/>
              <a:defRPr sz="1275" b="1">
                <a:solidFill>
                  <a:srgbClr val="0A2D27"/>
                </a:solidFill>
              </a:defRPr>
            </a:pPr>
            <a:r>
              <a:rPr sz="1275" b="1">
                <a:solidFill>
                  <a:srgbClr val="0A2D27"/>
                </a:solidFill>
              </a:rPr>
              <a:t>CACHE + DEDUPLICATE</a:t>
            </a:r>
            <a:endParaRPr sz="1275" b="1">
              <a:solidFill>
                <a:srgbClr val="0A2D27"/>
              </a:solidFill>
            </a:endParaRPr>
          </a:p>
        </p:txBody>
      </p:sp>
      <p:sp>
        <p:nvSpPr>
          <p:cNvPr id="48" name="control-copy-1"/>
          <p:cNvSpPr>
            <a:spLocks noGrp="1"/>
          </p:cNvSpPr>
          <p:nvPr/>
        </p:nvSpPr>
        <p:spPr>
          <a:xfrm>
            <a:off x="5476875" y="8620125"/>
            <a:ext cx="3333750" cy="381000"/>
          </a:xfrm>
          <a:prstGeom prst="rect">
            <a:avLst/>
          </a:prstGeom>
          <a:noFill/>
          <a:ln w="0">
            <a:noFill/>
            <a:prstDash val="solid"/>
          </a:ln>
        </p:spPr>
        <p:txBody>
          <a:bodyPr anchor="t"/>
          <a:lstStyle/>
          <a:p>
            <a:pPr algn="l">
              <a:buNone/>
              <a:defRPr sz="1125" b="0">
                <a:solidFill>
                  <a:srgbClr val="596560"/>
                </a:solidFill>
              </a:defRPr>
            </a:pPr>
            <a:r>
              <a:rPr sz="1125" b="0">
                <a:solidFill>
                  <a:srgbClr val="596560"/>
                </a:solidFill>
              </a:rPr>
              <a:t>Do not pay twice for the same evidence</a:t>
            </a:r>
            <a:endParaRPr sz="1125" b="0">
              <a:solidFill>
                <a:srgbClr val="596560"/>
              </a:solidFill>
            </a:endParaRPr>
          </a:p>
        </p:txBody>
      </p:sp>
      <p:sp>
        <p:nvSpPr>
          <p:cNvPr id="49" name="control-dot-2"/>
          <p:cNvSpPr>
            <a:spLocks noGrp="1"/>
          </p:cNvSpPr>
          <p:nvPr/>
        </p:nvSpPr>
        <p:spPr>
          <a:xfrm>
            <a:off x="9124950" y="8391525"/>
            <a:ext cx="133350" cy="133350"/>
          </a:xfrm>
          <a:prstGeom prst="ellipse">
            <a:avLst/>
          </a:prstGeom>
          <a:solidFill>
            <a:srgbClr val="397A63"/>
          </a:solidFill>
          <a:ln w="0">
            <a:noFill/>
            <a:prstDash val="solid"/>
          </a:ln>
        </p:spPr>
      </p:sp>
      <p:sp>
        <p:nvSpPr>
          <p:cNvPr id="50" name="control-title-2"/>
          <p:cNvSpPr>
            <a:spLocks noGrp="1"/>
          </p:cNvSpPr>
          <p:nvPr/>
        </p:nvSpPr>
        <p:spPr>
          <a:xfrm>
            <a:off x="9363075" y="8315325"/>
            <a:ext cx="3333750" cy="266700"/>
          </a:xfrm>
          <a:prstGeom prst="rect">
            <a:avLst/>
          </a:prstGeom>
          <a:noFill/>
          <a:ln w="0">
            <a:noFill/>
            <a:prstDash val="solid"/>
          </a:ln>
        </p:spPr>
        <p:txBody>
          <a:bodyPr anchor="t"/>
          <a:lstStyle/>
          <a:p>
            <a:pPr algn="l">
              <a:buNone/>
              <a:defRPr sz="1275" b="1">
                <a:solidFill>
                  <a:srgbClr val="0A2D27"/>
                </a:solidFill>
              </a:defRPr>
            </a:pPr>
            <a:r>
              <a:rPr sz="1275" b="1">
                <a:solidFill>
                  <a:srgbClr val="0A2D27"/>
                </a:solidFill>
              </a:rPr>
              <a:t>HARD QUOTAS</a:t>
            </a:r>
            <a:endParaRPr sz="1275" b="1">
              <a:solidFill>
                <a:srgbClr val="0A2D27"/>
              </a:solidFill>
            </a:endParaRPr>
          </a:p>
        </p:txBody>
      </p:sp>
      <p:sp>
        <p:nvSpPr>
          <p:cNvPr id="51" name="control-copy-2"/>
          <p:cNvSpPr>
            <a:spLocks noGrp="1"/>
          </p:cNvSpPr>
          <p:nvPr/>
        </p:nvSpPr>
        <p:spPr>
          <a:xfrm>
            <a:off x="9363075" y="8620125"/>
            <a:ext cx="3333750" cy="381000"/>
          </a:xfrm>
          <a:prstGeom prst="rect">
            <a:avLst/>
          </a:prstGeom>
          <a:noFill/>
          <a:ln w="0">
            <a:noFill/>
            <a:prstDash val="solid"/>
          </a:ln>
        </p:spPr>
        <p:txBody>
          <a:bodyPr anchor="t"/>
          <a:lstStyle/>
          <a:p>
            <a:pPr algn="l">
              <a:buNone/>
              <a:defRPr sz="1125" b="0">
                <a:solidFill>
                  <a:srgbClr val="596560"/>
                </a:solidFill>
              </a:defRPr>
            </a:pPr>
            <a:r>
              <a:rPr sz="1125" b="0">
                <a:solidFill>
                  <a:srgbClr val="596560"/>
                </a:solidFill>
              </a:rPr>
              <a:t>Cap tokens, sandbox time and daily usage</a:t>
            </a:r>
            <a:endParaRPr sz="1125" b="0">
              <a:solidFill>
                <a:srgbClr val="596560"/>
              </a:solidFill>
            </a:endParaRPr>
          </a:p>
        </p:txBody>
      </p:sp>
      <p:sp>
        <p:nvSpPr>
          <p:cNvPr id="52" name="control-dot-3"/>
          <p:cNvSpPr>
            <a:spLocks noGrp="1"/>
          </p:cNvSpPr>
          <p:nvPr/>
        </p:nvSpPr>
        <p:spPr>
          <a:xfrm>
            <a:off x="13011150" y="8391525"/>
            <a:ext cx="133350" cy="133350"/>
          </a:xfrm>
          <a:prstGeom prst="ellipse">
            <a:avLst/>
          </a:prstGeom>
          <a:solidFill>
            <a:srgbClr val="397A63"/>
          </a:solidFill>
          <a:ln w="0">
            <a:noFill/>
            <a:prstDash val="solid"/>
          </a:ln>
        </p:spPr>
      </p:sp>
      <p:sp>
        <p:nvSpPr>
          <p:cNvPr id="53" name="control-title-3"/>
          <p:cNvSpPr>
            <a:spLocks noGrp="1"/>
          </p:cNvSpPr>
          <p:nvPr/>
        </p:nvSpPr>
        <p:spPr>
          <a:xfrm>
            <a:off x="13249275" y="8315325"/>
            <a:ext cx="3333750" cy="266700"/>
          </a:xfrm>
          <a:prstGeom prst="rect">
            <a:avLst/>
          </a:prstGeom>
          <a:noFill/>
          <a:ln w="0">
            <a:noFill/>
            <a:prstDash val="solid"/>
          </a:ln>
        </p:spPr>
        <p:txBody>
          <a:bodyPr anchor="t"/>
          <a:lstStyle/>
          <a:p>
            <a:pPr algn="l">
              <a:buNone/>
              <a:defRPr sz="1275" b="1">
                <a:solidFill>
                  <a:srgbClr val="0A2D27"/>
                </a:solidFill>
              </a:defRPr>
            </a:pPr>
            <a:r>
              <a:rPr sz="1275" b="1">
                <a:solidFill>
                  <a:srgbClr val="0A2D27"/>
                </a:solidFill>
              </a:rPr>
              <a:t>LOCAL-MODEL OPTION</a:t>
            </a:r>
            <a:endParaRPr sz="1275" b="1">
              <a:solidFill>
                <a:srgbClr val="0A2D27"/>
              </a:solidFill>
            </a:endParaRPr>
          </a:p>
        </p:txBody>
      </p:sp>
      <p:sp>
        <p:nvSpPr>
          <p:cNvPr id="54" name="control-copy-3"/>
          <p:cNvSpPr>
            <a:spLocks noGrp="1"/>
          </p:cNvSpPr>
          <p:nvPr/>
        </p:nvSpPr>
        <p:spPr>
          <a:xfrm>
            <a:off x="13249275" y="8620125"/>
            <a:ext cx="3333750" cy="381000"/>
          </a:xfrm>
          <a:prstGeom prst="rect">
            <a:avLst/>
          </a:prstGeom>
          <a:noFill/>
          <a:ln w="0">
            <a:noFill/>
            <a:prstDash val="solid"/>
          </a:ln>
        </p:spPr>
        <p:txBody>
          <a:bodyPr anchor="t"/>
          <a:lstStyle/>
          <a:p>
            <a:pPr algn="l">
              <a:buNone/>
              <a:defRPr sz="1125" b="0">
                <a:solidFill>
                  <a:srgbClr val="596560"/>
                </a:solidFill>
              </a:defRPr>
            </a:pPr>
            <a:r>
              <a:rPr sz="1125" b="0">
                <a:solidFill>
                  <a:srgbClr val="596560"/>
                </a:solidFill>
              </a:rPr>
              <a:t>Support open-source models where suitable</a:t>
            </a:r>
            <a:endParaRPr sz="1125" b="0">
              <a:solidFill>
                <a:srgbClr val="596560"/>
              </a:solidFill>
            </a:endParaRPr>
          </a:p>
        </p:txBody>
      </p:sp>
      <p:sp>
        <p:nvSpPr>
          <p:cNvPr id="55" name="estimate-note"/>
          <p:cNvSpPr>
            <a:spLocks noGrp="1"/>
          </p:cNvSpPr>
          <p:nvPr/>
        </p:nvSpPr>
        <p:spPr>
          <a:xfrm>
            <a:off x="1066800" y="9382125"/>
            <a:ext cx="16173450" cy="285750"/>
          </a:xfrm>
          <a:prstGeom prst="rect">
            <a:avLst/>
          </a:prstGeom>
          <a:noFill/>
          <a:ln w="0">
            <a:noFill/>
            <a:prstDash val="solid"/>
          </a:ln>
        </p:spPr>
        <p:txBody>
          <a:bodyPr anchor="t"/>
          <a:lstStyle/>
          <a:p>
            <a:pPr algn="ctr">
              <a:buNone/>
              <a:defRPr sz="1125" b="0">
                <a:solidFill>
                  <a:srgbClr val="596560"/>
                </a:solidFill>
              </a:defRPr>
            </a:pPr>
            <a:r>
              <a:rPr sz="1125" b="0">
                <a:solidFill>
                  <a:srgbClr val="596560"/>
                </a:solidFill>
              </a:rPr>
              <a:t>Planning estimate—not a vendor quote. Actual cost depends on model, token volume, active users and sandbox runtime.</a:t>
            </a:r>
            <a:endParaRPr sz="1125" b="0">
              <a:solidFill>
                <a:srgbClr val="5965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 name="object 2"/>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6498</Words>
  <Application>WPS Presentation</Application>
  <PresentationFormat>Converted Presentation</PresentationFormat>
  <Paragraphs>265</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Arial MT</vt:lpstr>
      <vt:lpstr>Lucida Sans Unicode</vt:lpstr>
      <vt:lpstr>Arial</vt:lpstr>
      <vt:lpstr>Microsoft YaHei</vt:lpstr>
      <vt:lpstr>Arial Unicode MS</vt:lpstr>
      <vt:lpstr>Calibri</vt:lpstr>
      <vt:lpstr>Office Theme</vt:lpstr>
      <vt:lpstr>PowerPoint 演示文稿</vt:lpstr>
      <vt:lpstr>Meet the Knights team</vt:lpstr>
      <vt:lpstr>Brief about the Idea:  FindWell is a secure, self-evolving autonomous research agent that converts complex questions into evidence-backed and reproducible research packages. It can plan investigations, browse and analyze webpages and PDFs, process structured datasets, execute code inside an isolated workspace, map claims to citations, and maintain an auditable action trace. Unlike ordinary research assistants, FindWell treats external content as untrusted, quarantines prompt-injection attacks while preserving useful evidence, and improves its retrieval strategies only after held-out testing and explicit human approval. Every strategy change is versioned, measurable, reversible, and prevented from modifying the trusted control layer. </vt:lpstr>
      <vt:lpstr>PowerPoint 演示文稿</vt:lpstr>
      <vt:lpstr>A governed flow turns questions into auditable research</vt:lpstr>
      <vt:lpstr>The working interface makes safety and proof visible</vt:lpstr>
      <vt:lpstr>Architecture separates trusted control from untrusted research</vt:lpstr>
      <vt:lpstr>TECHNOLOGIES USED IN FINDWELL    • Frontend: Chrome Extension — HTML, CSS and JavaScript. • Mobile Application: Flutter and Dart. • Core Agent &amp; Backend: Python 3.11+ • AI Integration: OpenAI, Gemini, Claude and other configurable LLM providers. • Web &amp; Document Research: Crawl4AI, Tavily/DuckDuckGo, arXiv and PyMuPDF. • Data Processing: CSV, JSON, JSONL and NumPy • Secure Code Execution: Docker sandbox, AST validation, network restrictions and resource limits • Security: Prompt-injection quarantine, protected policy layer and human approval gates • Self-Evolution: Versioned strategy registry, held-out A/B evaluation and rollback • Evidence &amp; Export: Citation verification, SHA-256 provenance, evidence maps and audit traces • Testing &amp; Development: Pytest, Git and GitHub </vt:lpstr>
      <vt:lpstr>Cost stays low; APIs and sandbox usage drive scale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ashish mendhe</cp:lastModifiedBy>
  <cp:revision>1</cp:revision>
  <dcterms:created xsi:type="dcterms:W3CDTF">2026-08-08T04:19:16Z</dcterms:created>
  <dcterms:modified xsi:type="dcterms:W3CDTF">2026-08-08T04:19:16Z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0E23160EB79448519C0A36FCE8CF2193_12</vt:lpwstr>
  </property>
</Properties>
</file>